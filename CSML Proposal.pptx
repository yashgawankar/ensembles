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 name="Shape 8"/>
        <p:cNvGrpSpPr/>
        <p:nvPr/>
      </p:nvGrpSpPr>
      <p:grpSpPr>
        <a:xfrm>
          <a:off x="0" y="0"/>
          <a:ext cx="0" cy="0"/>
          <a:chOff x="0" y="0"/>
          <a:chExt cx="0" cy="0"/>
        </a:xfrm>
      </p:grpSpPr>
      <p:sp>
        <p:nvSpPr>
          <p:cNvPr id="9" name="Google Shape;9;g396803b7077_11_86: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g396803b7077_9_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g396803b7077_9_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 name="Google Shape;21;g396803b7077_9_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396803b7077_43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g396803b7077_43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 name="Google Shape;49;g396803b7077_43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96803b7077_9_5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g396803b7077_9_5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g396803b7077_9_5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96803b7077_9_7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96803b7077_9_7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96803b7077_9_7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6803b7077_46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g396803b7077_46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396803b7077_46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p:cSld name="Generated">
    <p:spTree>
      <p:nvGrpSpPr>
        <p:cNvPr id="7" name="Shape 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2E"/>
        </a:solidFill>
      </p:bgPr>
    </p:bg>
    <p:spTree>
      <p:nvGrpSpPr>
        <p:cNvPr id="10" name="Shape 10"/>
        <p:cNvGrpSpPr/>
        <p:nvPr/>
      </p:nvGrpSpPr>
      <p:grpSpPr>
        <a:xfrm>
          <a:off x="0" y="0"/>
          <a:ext cx="0" cy="0"/>
          <a:chOff x="0" y="0"/>
          <a:chExt cx="0" cy="0"/>
        </a:xfrm>
      </p:grpSpPr>
      <p:sp>
        <p:nvSpPr>
          <p:cNvPr id="11" name="Google Shape;11;p4"/>
          <p:cNvSpPr/>
          <p:nvPr/>
        </p:nvSpPr>
        <p:spPr>
          <a:xfrm>
            <a:off x="0" y="0"/>
            <a:ext cx="4953000" cy="5143500"/>
          </a:xfrm>
          <a:prstGeom prst="rect">
            <a:avLst/>
          </a:prstGeom>
          <a:solidFill>
            <a:srgbClr val="1A1A2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 name="Google Shape;12;p4"/>
          <p:cNvSpPr/>
          <p:nvPr/>
        </p:nvSpPr>
        <p:spPr>
          <a:xfrm>
            <a:off x="571500" y="1524000"/>
            <a:ext cx="76200" cy="11430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 name="Google Shape;13;p4"/>
          <p:cNvSpPr txBox="1"/>
          <p:nvPr/>
        </p:nvSpPr>
        <p:spPr>
          <a:xfrm>
            <a:off x="857250" y="1524000"/>
            <a:ext cx="3810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4200">
                <a:solidFill>
                  <a:srgbClr val="FFFFFF"/>
                </a:solidFill>
                <a:latin typeface="Georgia"/>
                <a:ea typeface="Georgia"/>
                <a:cs typeface="Georgia"/>
                <a:sym typeface="Georgia"/>
              </a:rPr>
              <a:t>Beyond Error</a:t>
            </a:r>
            <a:endParaRPr b="1" sz="4200">
              <a:solidFill>
                <a:srgbClr val="FFFFFF"/>
              </a:solidFill>
              <a:latin typeface="Georgia"/>
              <a:ea typeface="Georgia"/>
              <a:cs typeface="Georgia"/>
              <a:sym typeface="Georgia"/>
            </a:endParaRPr>
          </a:p>
        </p:txBody>
      </p:sp>
      <p:sp>
        <p:nvSpPr>
          <p:cNvPr id="14" name="Google Shape;14;p4"/>
          <p:cNvSpPr txBox="1"/>
          <p:nvPr/>
        </p:nvSpPr>
        <p:spPr>
          <a:xfrm>
            <a:off x="857250" y="2286000"/>
            <a:ext cx="3810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700">
                <a:solidFill>
                  <a:srgbClr val="A0A0B0"/>
                </a:solidFill>
                <a:latin typeface="Georgia"/>
                <a:ea typeface="Georgia"/>
                <a:cs typeface="Georgia"/>
                <a:sym typeface="Georgia"/>
              </a:rPr>
              <a:t>Why Ensembles Work — Until They Don't…</a:t>
            </a:r>
            <a:endParaRPr b="0" i="1" sz="1700">
              <a:solidFill>
                <a:srgbClr val="A0A0B0"/>
              </a:solidFill>
              <a:latin typeface="Georgia"/>
              <a:ea typeface="Georgia"/>
              <a:cs typeface="Georgia"/>
              <a:sym typeface="Georgia"/>
            </a:endParaRPr>
          </a:p>
        </p:txBody>
      </p:sp>
      <p:cxnSp>
        <p:nvCxnSpPr>
          <p:cNvPr id="15" name="Google Shape;15;p4"/>
          <p:cNvCxnSpPr/>
          <p:nvPr/>
        </p:nvCxnSpPr>
        <p:spPr>
          <a:xfrm>
            <a:off x="857250" y="4191000"/>
            <a:ext cx="3810000" cy="0"/>
          </a:xfrm>
          <a:prstGeom prst="straightConnector1">
            <a:avLst/>
          </a:prstGeom>
          <a:solidFill>
            <a:srgbClr val="FFFFFF"/>
          </a:solidFill>
          <a:ln cap="flat" cmpd="sng" w="9525">
            <a:solidFill>
              <a:srgbClr val="333333"/>
            </a:solidFill>
            <a:prstDash val="solid"/>
            <a:round/>
            <a:headEnd len="sm" w="sm" type="none"/>
            <a:tailEnd len="sm" w="sm" type="none"/>
          </a:ln>
        </p:spPr>
      </p:cxnSp>
      <p:sp>
        <p:nvSpPr>
          <p:cNvPr id="16" name="Google Shape;16;p4"/>
          <p:cNvSpPr txBox="1"/>
          <p:nvPr/>
        </p:nvSpPr>
        <p:spPr>
          <a:xfrm>
            <a:off x="857250" y="4333875"/>
            <a:ext cx="3810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888888"/>
                </a:solidFill>
                <a:latin typeface="Calibri"/>
                <a:ea typeface="Calibri"/>
                <a:cs typeface="Calibri"/>
                <a:sym typeface="Calibri"/>
              </a:rPr>
              <a:t>Yash Gawankar, Athena Lobo</a:t>
            </a:r>
            <a:endParaRPr b="0" sz="1200">
              <a:solidFill>
                <a:srgbClr val="888888"/>
              </a:solidFill>
              <a:latin typeface="Calibri"/>
              <a:ea typeface="Calibri"/>
              <a:cs typeface="Calibri"/>
              <a:sym typeface="Calibri"/>
            </a:endParaRPr>
          </a:p>
          <a:p>
            <a:pPr indent="0" lvl="0" marL="0" rtl="0" algn="l">
              <a:spcBef>
                <a:spcPts val="300"/>
              </a:spcBef>
              <a:spcAft>
                <a:spcPts val="0"/>
              </a:spcAft>
              <a:buNone/>
            </a:pPr>
            <a:r>
              <a:rPr b="0" lang="en" sz="1200">
                <a:solidFill>
                  <a:srgbClr val="888888"/>
                </a:solidFill>
                <a:latin typeface="Calibri"/>
                <a:ea typeface="Calibri"/>
                <a:cs typeface="Calibri"/>
                <a:sym typeface="Calibri"/>
              </a:rPr>
              <a:t>Machine Learning · CSCI-567</a:t>
            </a:r>
            <a:endParaRPr b="0" sz="1200">
              <a:solidFill>
                <a:srgbClr val="888888"/>
              </a:solidFill>
              <a:latin typeface="Calibri"/>
              <a:ea typeface="Calibri"/>
              <a:cs typeface="Calibri"/>
              <a:sym typeface="Calibri"/>
            </a:endParaRPr>
          </a:p>
        </p:txBody>
      </p:sp>
      <p:pic>
        <p:nvPicPr>
          <p:cNvPr descr="A sophisticated 3D conceptual visualization of the bias-variance tradeoff in machine learning. It features a target with scattered data points: one cluster tightly packed but off-center (High Bias, Low Variance) and another cluster widely spread but centered on the bullseye (Low Bias, High Variance). The aesthetic uses deep blues, vibrant purples, and glowing neon accents to match a high-tech digital neural network theme." id="17" name="Google Shape;17;p4"/>
          <p:cNvPicPr preferRelativeResize="0"/>
          <p:nvPr/>
        </p:nvPicPr>
        <p:blipFill rotWithShape="1">
          <a:blip r:embed="rId3">
            <a:alphaModFix/>
          </a:blip>
          <a:srcRect b="3976" l="0" r="0" t="3976"/>
          <a:stretch/>
        </p:blipFill>
        <p:spPr>
          <a:xfrm>
            <a:off x="4953000" y="0"/>
            <a:ext cx="4191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22" name="Shape 22"/>
        <p:cNvGrpSpPr/>
        <p:nvPr/>
      </p:nvGrpSpPr>
      <p:grpSpPr>
        <a:xfrm>
          <a:off x="0" y="0"/>
          <a:ext cx="0" cy="0"/>
          <a:chOff x="0" y="0"/>
          <a:chExt cx="0" cy="0"/>
        </a:xfrm>
      </p:grpSpPr>
      <p:sp>
        <p:nvSpPr>
          <p:cNvPr id="23" name="Google Shape;23;p5"/>
          <p:cNvSpPr/>
          <p:nvPr/>
        </p:nvSpPr>
        <p:spPr>
          <a:xfrm>
            <a:off x="731520" y="457200"/>
            <a:ext cx="7680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2000"/>
              <a:buFont typeface="Georgia"/>
              <a:buNone/>
            </a:pPr>
            <a:r>
              <a:rPr i="1" lang="en" sz="2000">
                <a:solidFill>
                  <a:srgbClr val="2D2D2D"/>
                </a:solidFill>
                <a:latin typeface="Georgia"/>
                <a:ea typeface="Georgia"/>
                <a:cs typeface="Georgia"/>
                <a:sym typeface="Georgia"/>
              </a:rPr>
              <a:t>Motivation: Error</a:t>
            </a:r>
            <a:r>
              <a:rPr b="0" i="1" lang="en" sz="2000" u="none" cap="none" strike="noStrike">
                <a:solidFill>
                  <a:srgbClr val="2D2D2D"/>
                </a:solidFill>
                <a:latin typeface="Georgia"/>
                <a:ea typeface="Georgia"/>
                <a:cs typeface="Georgia"/>
                <a:sym typeface="Georgia"/>
              </a:rPr>
              <a:t> is a sum. But which part moved?</a:t>
            </a:r>
            <a:endParaRPr b="0" i="0" sz="2000" u="none" cap="none" strike="noStrike">
              <a:solidFill>
                <a:schemeClr val="dk1"/>
              </a:solidFill>
              <a:latin typeface="Calibri"/>
              <a:ea typeface="Calibri"/>
              <a:cs typeface="Calibri"/>
              <a:sym typeface="Calibri"/>
            </a:endParaRPr>
          </a:p>
        </p:txBody>
      </p:sp>
      <p:sp>
        <p:nvSpPr>
          <p:cNvPr id="24" name="Google Shape;24;p5"/>
          <p:cNvSpPr/>
          <p:nvPr/>
        </p:nvSpPr>
        <p:spPr>
          <a:xfrm>
            <a:off x="180075" y="1170025"/>
            <a:ext cx="3998700" cy="1749900"/>
          </a:xfrm>
          <a:prstGeom prst="rect">
            <a:avLst/>
          </a:prstGeom>
          <a:solidFill>
            <a:schemeClr val="dk1"/>
          </a:solidFill>
          <a:ln cap="flat" cmpd="sng" w="11600">
            <a:solidFill>
              <a:srgbClr val="E5E7EB"/>
            </a:solidFill>
            <a:prstDash val="solid"/>
            <a:round/>
            <a:headEnd len="sm" w="sm" type="none"/>
            <a:tailEnd len="sm" w="sm" type="none"/>
          </a:ln>
        </p:spPr>
        <p:txBody>
          <a:bodyPr anchorCtr="0" anchor="ctr" bIns="83575" lIns="83575" spcFirstLastPara="1" rIns="83575" wrap="square" tIns="83575">
            <a:noAutofit/>
          </a:bodyPr>
          <a:lstStyle/>
          <a:p>
            <a:pPr indent="0" lvl="0" marL="0" rtl="0" algn="l">
              <a:spcBef>
                <a:spcPts val="0"/>
              </a:spcBef>
              <a:spcAft>
                <a:spcPts val="0"/>
              </a:spcAft>
              <a:buNone/>
            </a:pPr>
            <a:r>
              <a:t/>
            </a:r>
            <a:endParaRPr/>
          </a:p>
        </p:txBody>
      </p:sp>
      <p:grpSp>
        <p:nvGrpSpPr>
          <p:cNvPr id="25" name="Google Shape;25;p5"/>
          <p:cNvGrpSpPr/>
          <p:nvPr/>
        </p:nvGrpSpPr>
        <p:grpSpPr>
          <a:xfrm>
            <a:off x="180077" y="1296726"/>
            <a:ext cx="1606246" cy="1515042"/>
            <a:chOff x="180075" y="1242169"/>
            <a:chExt cx="1924800" cy="1515042"/>
          </a:xfrm>
        </p:grpSpPr>
        <p:sp>
          <p:nvSpPr>
            <p:cNvPr id="26" name="Google Shape;26;p5"/>
            <p:cNvSpPr/>
            <p:nvPr/>
          </p:nvSpPr>
          <p:spPr>
            <a:xfrm>
              <a:off x="180075" y="1242169"/>
              <a:ext cx="1924800" cy="288600"/>
            </a:xfrm>
            <a:prstGeom prst="rect">
              <a:avLst/>
            </a:prstGeom>
            <a:noFill/>
            <a:ln>
              <a:noFill/>
            </a:ln>
          </p:spPr>
          <p:txBody>
            <a:bodyPr anchorCtr="0" anchor="ctr" bIns="41775" lIns="83575" spcFirstLastPara="1" rIns="83575" wrap="square" tIns="41775">
              <a:noAutofit/>
            </a:bodyPr>
            <a:lstStyle/>
            <a:p>
              <a:pPr indent="0" lvl="0" marL="0" marR="0" rtl="0" algn="ctr">
                <a:spcBef>
                  <a:spcPts val="0"/>
                </a:spcBef>
                <a:spcAft>
                  <a:spcPts val="0"/>
                </a:spcAft>
                <a:buClr>
                  <a:srgbClr val="6B7280"/>
                </a:buClr>
                <a:buSzPts val="1097"/>
                <a:buFont typeface="Calibri"/>
                <a:buNone/>
              </a:pPr>
              <a:r>
                <a:rPr lang="en" sz="1297">
                  <a:solidFill>
                    <a:schemeClr val="lt1"/>
                  </a:solidFill>
                  <a:latin typeface="Calibri"/>
                  <a:ea typeface="Calibri"/>
                  <a:cs typeface="Calibri"/>
                  <a:sym typeface="Calibri"/>
                </a:rPr>
                <a:t>MSE</a:t>
              </a:r>
              <a:endParaRPr b="0" i="0" sz="1297" u="none" cap="none" strike="noStrike">
                <a:solidFill>
                  <a:schemeClr val="lt1"/>
                </a:solidFill>
                <a:latin typeface="Calibri"/>
                <a:ea typeface="Calibri"/>
                <a:cs typeface="Calibri"/>
                <a:sym typeface="Calibri"/>
              </a:endParaRPr>
            </a:p>
          </p:txBody>
        </p:sp>
        <p:sp>
          <p:nvSpPr>
            <p:cNvPr id="27" name="Google Shape;27;p5"/>
            <p:cNvSpPr/>
            <p:nvPr/>
          </p:nvSpPr>
          <p:spPr>
            <a:xfrm>
              <a:off x="180075" y="1602887"/>
              <a:ext cx="1924800" cy="721500"/>
            </a:xfrm>
            <a:prstGeom prst="rect">
              <a:avLst/>
            </a:prstGeom>
            <a:noFill/>
            <a:ln>
              <a:noFill/>
            </a:ln>
          </p:spPr>
          <p:txBody>
            <a:bodyPr anchorCtr="0" anchor="ctr" bIns="41775" lIns="83575" spcFirstLastPara="1" rIns="83575" wrap="square" tIns="41775">
              <a:noAutofit/>
            </a:bodyPr>
            <a:lstStyle/>
            <a:p>
              <a:pPr indent="0" lvl="0" marL="0" marR="0" rtl="0" algn="ctr">
                <a:spcBef>
                  <a:spcPts val="0"/>
                </a:spcBef>
                <a:spcAft>
                  <a:spcPts val="0"/>
                </a:spcAft>
                <a:buClr>
                  <a:srgbClr val="2D2D2D"/>
                </a:buClr>
                <a:buSzPts val="4387"/>
                <a:buFont typeface="Georgia"/>
                <a:buNone/>
              </a:pPr>
              <a:r>
                <a:rPr b="1" lang="en" sz="4387">
                  <a:solidFill>
                    <a:schemeClr val="lt1"/>
                  </a:solidFill>
                  <a:latin typeface="Georgia"/>
                  <a:ea typeface="Georgia"/>
                  <a:cs typeface="Georgia"/>
                  <a:sym typeface="Georgia"/>
                </a:rPr>
                <a:t>267</a:t>
              </a:r>
              <a:endParaRPr b="0" i="0" sz="4387" u="none" cap="none" strike="noStrike">
                <a:solidFill>
                  <a:schemeClr val="lt1"/>
                </a:solidFill>
                <a:latin typeface="Calibri"/>
                <a:ea typeface="Calibri"/>
                <a:cs typeface="Calibri"/>
                <a:sym typeface="Calibri"/>
              </a:endParaRPr>
            </a:p>
          </p:txBody>
        </p:sp>
        <p:sp>
          <p:nvSpPr>
            <p:cNvPr id="28" name="Google Shape;28;p5"/>
            <p:cNvSpPr/>
            <p:nvPr/>
          </p:nvSpPr>
          <p:spPr>
            <a:xfrm>
              <a:off x="180075" y="2468610"/>
              <a:ext cx="1924800" cy="288600"/>
            </a:xfrm>
            <a:prstGeom prst="rect">
              <a:avLst/>
            </a:prstGeom>
            <a:noFill/>
            <a:ln>
              <a:noFill/>
            </a:ln>
          </p:spPr>
          <p:txBody>
            <a:bodyPr anchorCtr="0" anchor="ctr" bIns="41775" lIns="83575" spcFirstLastPara="1" rIns="83575" wrap="square" tIns="41775">
              <a:noAutofit/>
            </a:bodyPr>
            <a:lstStyle/>
            <a:p>
              <a:pPr indent="0" lvl="0" marL="0" marR="0" rtl="0" algn="ctr">
                <a:spcBef>
                  <a:spcPts val="0"/>
                </a:spcBef>
                <a:spcAft>
                  <a:spcPts val="0"/>
                </a:spcAft>
                <a:buClr>
                  <a:srgbClr val="6B7280"/>
                </a:buClr>
                <a:buSzPts val="1005"/>
                <a:buFont typeface="Calibri"/>
                <a:buNone/>
              </a:pPr>
              <a:r>
                <a:rPr b="0" i="1" lang="en" sz="1205" u="none" cap="none" strike="noStrike">
                  <a:solidFill>
                    <a:schemeClr val="lt1"/>
                  </a:solidFill>
                  <a:latin typeface="Calibri"/>
                  <a:ea typeface="Calibri"/>
                  <a:cs typeface="Calibri"/>
                  <a:sym typeface="Calibri"/>
                </a:rPr>
                <a:t>Black box</a:t>
              </a:r>
              <a:endParaRPr b="0" i="0" sz="1205" u="none" cap="none" strike="noStrike">
                <a:solidFill>
                  <a:schemeClr val="lt1"/>
                </a:solidFill>
                <a:latin typeface="Calibri"/>
                <a:ea typeface="Calibri"/>
                <a:cs typeface="Calibri"/>
                <a:sym typeface="Calibri"/>
              </a:endParaRPr>
            </a:p>
          </p:txBody>
        </p:sp>
      </p:grpSp>
      <p:sp>
        <p:nvSpPr>
          <p:cNvPr id="29" name="Google Shape;29;p5"/>
          <p:cNvSpPr/>
          <p:nvPr/>
        </p:nvSpPr>
        <p:spPr>
          <a:xfrm>
            <a:off x="4247157" y="1765799"/>
            <a:ext cx="548700" cy="577200"/>
          </a:xfrm>
          <a:prstGeom prst="rect">
            <a:avLst/>
          </a:prstGeom>
          <a:noFill/>
          <a:ln>
            <a:noFill/>
          </a:ln>
        </p:spPr>
        <p:txBody>
          <a:bodyPr anchorCtr="0" anchor="ctr" bIns="41775" lIns="83575" spcFirstLastPara="1" rIns="83575" wrap="square" tIns="41775">
            <a:noAutofit/>
          </a:bodyPr>
          <a:lstStyle/>
          <a:p>
            <a:pPr indent="0" lvl="0" marL="0" marR="0" rtl="0" algn="ctr">
              <a:spcBef>
                <a:spcPts val="0"/>
              </a:spcBef>
              <a:spcAft>
                <a:spcPts val="0"/>
              </a:spcAft>
              <a:buClr>
                <a:srgbClr val="6B7280"/>
              </a:buClr>
              <a:buSzPts val="2925"/>
              <a:buFont typeface="Calibri"/>
              <a:buNone/>
            </a:pPr>
            <a:r>
              <a:rPr b="0" i="0" lang="en" sz="2925" u="none" cap="none" strike="noStrike">
                <a:solidFill>
                  <a:srgbClr val="6B7280"/>
                </a:solidFill>
                <a:latin typeface="Calibri"/>
                <a:ea typeface="Calibri"/>
                <a:cs typeface="Calibri"/>
                <a:sym typeface="Calibri"/>
              </a:rPr>
              <a:t>→</a:t>
            </a:r>
            <a:endParaRPr b="0" i="0" sz="2925" u="none" cap="none" strike="noStrike">
              <a:solidFill>
                <a:schemeClr val="dk1"/>
              </a:solidFill>
              <a:latin typeface="Calibri"/>
              <a:ea typeface="Calibri"/>
              <a:cs typeface="Calibri"/>
              <a:sym typeface="Calibri"/>
            </a:endParaRPr>
          </a:p>
        </p:txBody>
      </p:sp>
      <p:sp>
        <p:nvSpPr>
          <p:cNvPr id="30" name="Google Shape;30;p5"/>
          <p:cNvSpPr/>
          <p:nvPr/>
        </p:nvSpPr>
        <p:spPr>
          <a:xfrm>
            <a:off x="4949100" y="1188750"/>
            <a:ext cx="3463500" cy="1731300"/>
          </a:xfrm>
          <a:prstGeom prst="rect">
            <a:avLst/>
          </a:prstGeom>
          <a:solidFill>
            <a:srgbClr val="FFFFFF"/>
          </a:solidFill>
          <a:ln cap="flat" cmpd="sng" w="11600">
            <a:solidFill>
              <a:srgbClr val="E5E7EB"/>
            </a:solidFill>
            <a:prstDash val="solid"/>
            <a:round/>
            <a:headEnd len="sm" w="sm" type="none"/>
            <a:tailEnd len="sm" w="sm" type="none"/>
          </a:ln>
        </p:spPr>
        <p:txBody>
          <a:bodyPr anchorCtr="0" anchor="ctr" bIns="83575" lIns="83575" spcFirstLastPara="1" rIns="83575" wrap="square" tIns="83575">
            <a:noAutofit/>
          </a:bodyPr>
          <a:lstStyle/>
          <a:p>
            <a:pPr indent="0" lvl="0" marL="0" rtl="0" algn="l">
              <a:spcBef>
                <a:spcPts val="0"/>
              </a:spcBef>
              <a:spcAft>
                <a:spcPts val="0"/>
              </a:spcAft>
              <a:buNone/>
            </a:pPr>
            <a:r>
              <a:t/>
            </a:r>
            <a:endParaRPr sz="1280"/>
          </a:p>
        </p:txBody>
      </p:sp>
      <p:sp>
        <p:nvSpPr>
          <p:cNvPr id="31" name="Google Shape;31;p5"/>
          <p:cNvSpPr/>
          <p:nvPr/>
        </p:nvSpPr>
        <p:spPr>
          <a:xfrm>
            <a:off x="4571999" y="1260869"/>
            <a:ext cx="3840600" cy="288600"/>
          </a:xfrm>
          <a:prstGeom prst="rect">
            <a:avLst/>
          </a:prstGeom>
          <a:noFill/>
          <a:ln>
            <a:noFill/>
          </a:ln>
        </p:spPr>
        <p:txBody>
          <a:bodyPr anchorCtr="0" anchor="ctr" bIns="41775" lIns="83575" spcFirstLastPara="1" rIns="83575" wrap="square" tIns="41775">
            <a:noAutofit/>
          </a:bodyPr>
          <a:lstStyle/>
          <a:p>
            <a:pPr indent="0" lvl="0" marL="0" marR="0" rtl="0" algn="ctr">
              <a:spcBef>
                <a:spcPts val="0"/>
              </a:spcBef>
              <a:spcAft>
                <a:spcPts val="0"/>
              </a:spcAft>
              <a:buClr>
                <a:srgbClr val="6B7280"/>
              </a:buClr>
              <a:buSzPts val="1097"/>
              <a:buFont typeface="Calibri"/>
              <a:buNone/>
            </a:pPr>
            <a:r>
              <a:rPr b="0" i="0" lang="en" sz="1097" u="none" cap="none" strike="noStrike">
                <a:solidFill>
                  <a:srgbClr val="6B7280"/>
                </a:solidFill>
                <a:latin typeface="Calibri"/>
                <a:ea typeface="Calibri"/>
                <a:cs typeface="Calibri"/>
                <a:sym typeface="Calibri"/>
              </a:rPr>
              <a:t>Decomposed</a:t>
            </a:r>
            <a:endParaRPr b="0" i="0" sz="1097" u="none" cap="none" strike="noStrike">
              <a:solidFill>
                <a:schemeClr val="dk1"/>
              </a:solidFill>
              <a:latin typeface="Calibri"/>
              <a:ea typeface="Calibri"/>
              <a:cs typeface="Calibri"/>
              <a:sym typeface="Calibri"/>
            </a:endParaRPr>
          </a:p>
        </p:txBody>
      </p:sp>
      <p:grpSp>
        <p:nvGrpSpPr>
          <p:cNvPr id="32" name="Google Shape;32;p5"/>
          <p:cNvGrpSpPr/>
          <p:nvPr/>
        </p:nvGrpSpPr>
        <p:grpSpPr>
          <a:xfrm>
            <a:off x="5114691" y="1532362"/>
            <a:ext cx="2755110" cy="1368954"/>
            <a:chOff x="4571998" y="1648200"/>
            <a:chExt cx="2755110" cy="1735050"/>
          </a:xfrm>
        </p:grpSpPr>
        <p:sp>
          <p:nvSpPr>
            <p:cNvPr id="33" name="Google Shape;33;p5"/>
            <p:cNvSpPr/>
            <p:nvPr/>
          </p:nvSpPr>
          <p:spPr>
            <a:xfrm>
              <a:off x="5955508" y="3017550"/>
              <a:ext cx="1371600" cy="365700"/>
            </a:xfrm>
            <a:prstGeom prst="rect">
              <a:avLst/>
            </a:prstGeom>
            <a:noFill/>
            <a:ln>
              <a:noFill/>
            </a:ln>
          </p:spPr>
          <p:txBody>
            <a:bodyPr anchorCtr="0" anchor="ctr" bIns="41775" lIns="83575" spcFirstLastPara="1" rIns="83575" wrap="square" tIns="41775">
              <a:noAutofit/>
            </a:bodyPr>
            <a:lstStyle/>
            <a:p>
              <a:pPr indent="0" lvl="0" marL="0" marR="0" rtl="0" algn="l">
                <a:spcBef>
                  <a:spcPts val="0"/>
                </a:spcBef>
                <a:spcAft>
                  <a:spcPts val="0"/>
                </a:spcAft>
                <a:buClr>
                  <a:srgbClr val="EF4444"/>
                </a:buClr>
                <a:buSzPts val="1280"/>
                <a:buFont typeface="Calibri"/>
                <a:buNone/>
              </a:pPr>
              <a:r>
                <a:rPr b="1" i="0" lang="en" sz="1280" u="none" cap="none" strike="noStrike">
                  <a:solidFill>
                    <a:srgbClr val="EF4444"/>
                  </a:solidFill>
                  <a:latin typeface="Calibri"/>
                  <a:ea typeface="Calibri"/>
                  <a:cs typeface="Calibri"/>
                  <a:sym typeface="Calibri"/>
                </a:rPr>
                <a:t>Bias²</a:t>
              </a:r>
              <a:endParaRPr b="0" i="0" sz="1280" u="none" cap="none" strike="noStrike">
                <a:solidFill>
                  <a:schemeClr val="dk1"/>
                </a:solidFill>
                <a:latin typeface="Calibri"/>
                <a:ea typeface="Calibri"/>
                <a:cs typeface="Calibri"/>
                <a:sym typeface="Calibri"/>
              </a:endParaRPr>
            </a:p>
          </p:txBody>
        </p:sp>
        <p:sp>
          <p:nvSpPr>
            <p:cNvPr id="34" name="Google Shape;34;p5"/>
            <p:cNvSpPr/>
            <p:nvPr/>
          </p:nvSpPr>
          <p:spPr>
            <a:xfrm>
              <a:off x="4571998" y="2069000"/>
              <a:ext cx="820800" cy="365700"/>
            </a:xfrm>
            <a:prstGeom prst="rect">
              <a:avLst/>
            </a:prstGeom>
            <a:noFill/>
            <a:ln>
              <a:noFill/>
            </a:ln>
          </p:spPr>
          <p:txBody>
            <a:bodyPr anchorCtr="0" anchor="ctr" bIns="41775" lIns="83575" spcFirstLastPara="1" rIns="83575" wrap="square" tIns="41775">
              <a:noAutofit/>
            </a:bodyPr>
            <a:lstStyle/>
            <a:p>
              <a:pPr indent="0" lvl="0" marL="0" marR="0" rtl="0" algn="l">
                <a:spcBef>
                  <a:spcPts val="0"/>
                </a:spcBef>
                <a:spcAft>
                  <a:spcPts val="0"/>
                </a:spcAft>
                <a:buClr>
                  <a:srgbClr val="3B82F6"/>
                </a:buClr>
                <a:buSzPts val="1280"/>
                <a:buFont typeface="Calibri"/>
                <a:buNone/>
              </a:pPr>
              <a:r>
                <a:rPr b="1" i="0" lang="en" sz="1280" u="none" cap="none" strike="noStrike">
                  <a:solidFill>
                    <a:srgbClr val="3B82F6"/>
                  </a:solidFill>
                  <a:latin typeface="Calibri"/>
                  <a:ea typeface="Calibri"/>
                  <a:cs typeface="Calibri"/>
                  <a:sym typeface="Calibri"/>
                </a:rPr>
                <a:t>Variance</a:t>
              </a:r>
              <a:endParaRPr b="0" i="0" sz="1280" u="none" cap="none" strike="noStrike">
                <a:solidFill>
                  <a:schemeClr val="dk1"/>
                </a:solidFill>
                <a:latin typeface="Calibri"/>
                <a:ea typeface="Calibri"/>
                <a:cs typeface="Calibri"/>
                <a:sym typeface="Calibri"/>
              </a:endParaRPr>
            </a:p>
          </p:txBody>
        </p:sp>
        <p:grpSp>
          <p:nvGrpSpPr>
            <p:cNvPr id="35" name="Google Shape;35;p5"/>
            <p:cNvGrpSpPr/>
            <p:nvPr/>
          </p:nvGrpSpPr>
          <p:grpSpPr>
            <a:xfrm>
              <a:off x="5484250" y="1648200"/>
              <a:ext cx="1537200" cy="1275600"/>
              <a:chOff x="5475725" y="1790800"/>
              <a:chExt cx="1537200" cy="1275600"/>
            </a:xfrm>
          </p:grpSpPr>
          <p:cxnSp>
            <p:nvCxnSpPr>
              <p:cNvPr id="36" name="Google Shape;36;p5"/>
              <p:cNvCxnSpPr/>
              <p:nvPr/>
            </p:nvCxnSpPr>
            <p:spPr>
              <a:xfrm flipH="1" rot="10800000">
                <a:off x="5475725" y="3056325"/>
                <a:ext cx="1537200" cy="1800"/>
              </a:xfrm>
              <a:prstGeom prst="straightConnector1">
                <a:avLst/>
              </a:prstGeom>
              <a:noFill/>
              <a:ln cap="flat" cmpd="sng" w="34825">
                <a:solidFill>
                  <a:srgbClr val="EF4444"/>
                </a:solidFill>
                <a:prstDash val="solid"/>
                <a:round/>
                <a:headEnd len="sm" w="sm" type="none"/>
                <a:tailEnd len="med" w="med" type="triangle"/>
              </a:ln>
            </p:spPr>
          </p:cxnSp>
          <p:cxnSp>
            <p:nvCxnSpPr>
              <p:cNvPr id="37" name="Google Shape;37;p5"/>
              <p:cNvCxnSpPr/>
              <p:nvPr/>
            </p:nvCxnSpPr>
            <p:spPr>
              <a:xfrm flipH="1" rot="10800000">
                <a:off x="5475725" y="1790800"/>
                <a:ext cx="24300" cy="1275600"/>
              </a:xfrm>
              <a:prstGeom prst="straightConnector1">
                <a:avLst/>
              </a:prstGeom>
              <a:noFill/>
              <a:ln cap="flat" cmpd="sng" w="34825">
                <a:solidFill>
                  <a:srgbClr val="3B82F6"/>
                </a:solidFill>
                <a:prstDash val="solid"/>
                <a:round/>
                <a:headEnd len="sm" w="sm" type="none"/>
                <a:tailEnd len="med" w="med" type="triangle"/>
              </a:ln>
            </p:spPr>
          </p:cxnSp>
        </p:grpSp>
      </p:grpSp>
      <p:sp>
        <p:nvSpPr>
          <p:cNvPr id="38" name="Google Shape;38;p5"/>
          <p:cNvSpPr/>
          <p:nvPr/>
        </p:nvSpPr>
        <p:spPr>
          <a:xfrm>
            <a:off x="180070" y="3605802"/>
            <a:ext cx="109800" cy="109800"/>
          </a:xfrm>
          <a:prstGeom prst="ellipse">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a:off x="343798" y="3441250"/>
            <a:ext cx="4228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300"/>
              <a:buFont typeface="Calibri"/>
              <a:buNone/>
            </a:pPr>
            <a:r>
              <a:rPr b="0" i="0" lang="en" sz="1300" u="none" cap="none" strike="noStrike">
                <a:solidFill>
                  <a:srgbClr val="2D2D2D"/>
                </a:solidFill>
                <a:latin typeface="Calibri"/>
                <a:ea typeface="Calibri"/>
                <a:cs typeface="Calibri"/>
                <a:sym typeface="Calibri"/>
              </a:rPr>
              <a:t>Bagging reduces variance — </a:t>
            </a:r>
            <a:r>
              <a:rPr lang="en" sz="1300">
                <a:solidFill>
                  <a:srgbClr val="2D2D2D"/>
                </a:solidFill>
                <a:latin typeface="Calibri"/>
                <a:ea typeface="Calibri"/>
                <a:cs typeface="Calibri"/>
                <a:sym typeface="Calibri"/>
              </a:rPr>
              <a:t>Error goes down</a:t>
            </a:r>
            <a:endParaRPr b="0" i="0" sz="1300" u="none" cap="none" strike="noStrike">
              <a:solidFill>
                <a:schemeClr val="dk1"/>
              </a:solidFill>
              <a:latin typeface="Calibri"/>
              <a:ea typeface="Calibri"/>
              <a:cs typeface="Calibri"/>
              <a:sym typeface="Calibri"/>
            </a:endParaRPr>
          </a:p>
        </p:txBody>
      </p:sp>
      <p:sp>
        <p:nvSpPr>
          <p:cNvPr id="40" name="Google Shape;40;p5"/>
          <p:cNvSpPr/>
          <p:nvPr/>
        </p:nvSpPr>
        <p:spPr>
          <a:xfrm>
            <a:off x="180070" y="3980720"/>
            <a:ext cx="109800" cy="109800"/>
          </a:xfrm>
          <a:prstGeom prst="ellipse">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a:off x="343798" y="3852727"/>
            <a:ext cx="4228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300"/>
              <a:buFont typeface="Calibri"/>
              <a:buNone/>
            </a:pPr>
            <a:r>
              <a:rPr b="0" i="0" lang="en" sz="1300" u="none" cap="none" strike="noStrike">
                <a:solidFill>
                  <a:srgbClr val="2D2D2D"/>
                </a:solidFill>
                <a:latin typeface="Calibri"/>
                <a:ea typeface="Calibri"/>
                <a:cs typeface="Calibri"/>
                <a:sym typeface="Calibri"/>
              </a:rPr>
              <a:t>Boosting reduces bias — </a:t>
            </a:r>
            <a:r>
              <a:rPr lang="en" sz="1300">
                <a:solidFill>
                  <a:srgbClr val="2D2D2D"/>
                </a:solidFill>
                <a:latin typeface="Calibri"/>
                <a:ea typeface="Calibri"/>
                <a:cs typeface="Calibri"/>
                <a:sym typeface="Calibri"/>
              </a:rPr>
              <a:t>Error goes down</a:t>
            </a:r>
            <a:endParaRPr b="0" i="0" sz="1300" u="none" cap="none" strike="noStrike">
              <a:solidFill>
                <a:schemeClr val="dk1"/>
              </a:solidFill>
              <a:latin typeface="Calibri"/>
              <a:ea typeface="Calibri"/>
              <a:cs typeface="Calibri"/>
              <a:sym typeface="Calibri"/>
            </a:endParaRPr>
          </a:p>
        </p:txBody>
      </p:sp>
      <p:sp>
        <p:nvSpPr>
          <p:cNvPr id="42" name="Google Shape;42;p5"/>
          <p:cNvSpPr/>
          <p:nvPr/>
        </p:nvSpPr>
        <p:spPr>
          <a:xfrm>
            <a:off x="180070" y="4392187"/>
            <a:ext cx="109800" cy="109800"/>
          </a:xfrm>
          <a:prstGeom prst="ellipse">
            <a:avLst/>
          </a:prstGeom>
          <a:solidFill>
            <a:srgbClr val="2D2D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343798" y="4264203"/>
            <a:ext cx="4228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300"/>
              <a:buFont typeface="Calibri"/>
              <a:buNone/>
            </a:pPr>
            <a:r>
              <a:rPr b="0" i="0" lang="en" sz="1300" u="none" cap="none" strike="noStrike">
                <a:solidFill>
                  <a:srgbClr val="2D2D2D"/>
                </a:solidFill>
                <a:latin typeface="Calibri"/>
                <a:ea typeface="Calibri"/>
                <a:cs typeface="Calibri"/>
                <a:sym typeface="Calibri"/>
              </a:rPr>
              <a:t>Same number, completely different story underneath</a:t>
            </a:r>
            <a:endParaRPr b="0" i="0" sz="1300" u="none" cap="none" strike="noStrike">
              <a:solidFill>
                <a:schemeClr val="dk1"/>
              </a:solidFill>
              <a:latin typeface="Calibri"/>
              <a:ea typeface="Calibri"/>
              <a:cs typeface="Calibri"/>
              <a:sym typeface="Calibri"/>
            </a:endParaRPr>
          </a:p>
        </p:txBody>
      </p:sp>
      <p:pic>
        <p:nvPicPr>
          <p:cNvPr id="44" name="Google Shape;44;p5"/>
          <p:cNvPicPr preferRelativeResize="0"/>
          <p:nvPr/>
        </p:nvPicPr>
        <p:blipFill rotWithShape="1">
          <a:blip r:embed="rId3">
            <a:alphaModFix/>
          </a:blip>
          <a:srcRect b="0" l="0" r="4635" t="0"/>
          <a:stretch/>
        </p:blipFill>
        <p:spPr>
          <a:xfrm>
            <a:off x="4625925" y="3352825"/>
            <a:ext cx="4360024" cy="1277075"/>
          </a:xfrm>
          <a:prstGeom prst="rect">
            <a:avLst/>
          </a:prstGeom>
          <a:noFill/>
          <a:ln>
            <a:noFill/>
          </a:ln>
        </p:spPr>
      </p:pic>
      <p:pic>
        <p:nvPicPr>
          <p:cNvPr id="45" name="Google Shape;45;p5"/>
          <p:cNvPicPr preferRelativeResize="0"/>
          <p:nvPr/>
        </p:nvPicPr>
        <p:blipFill>
          <a:blip r:embed="rId4">
            <a:alphaModFix/>
          </a:blip>
          <a:stretch>
            <a:fillRect/>
          </a:stretch>
        </p:blipFill>
        <p:spPr>
          <a:xfrm>
            <a:off x="1840001" y="1260879"/>
            <a:ext cx="2253926" cy="15867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0" name="Shape 50"/>
        <p:cNvGrpSpPr/>
        <p:nvPr/>
      </p:nvGrpSpPr>
      <p:grpSpPr>
        <a:xfrm>
          <a:off x="0" y="0"/>
          <a:ext cx="0" cy="0"/>
          <a:chOff x="0" y="0"/>
          <a:chExt cx="0" cy="0"/>
        </a:xfrm>
      </p:grpSpPr>
      <p:sp>
        <p:nvSpPr>
          <p:cNvPr id="51" name="Google Shape;51;p6"/>
          <p:cNvSpPr/>
          <p:nvPr/>
        </p:nvSpPr>
        <p:spPr>
          <a:xfrm>
            <a:off x="457200" y="27432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800"/>
              <a:buFont typeface="Georgia"/>
              <a:buNone/>
            </a:pPr>
            <a:r>
              <a:rPr b="1" i="0" lang="en" sz="1800" u="none" cap="none" strike="noStrike">
                <a:solidFill>
                  <a:srgbClr val="2D2D2D"/>
                </a:solidFill>
                <a:latin typeface="Georgia"/>
                <a:ea typeface="Georgia"/>
                <a:cs typeface="Georgia"/>
                <a:sym typeface="Georgia"/>
              </a:rPr>
              <a:t>Research Questions</a:t>
            </a:r>
            <a:endParaRPr b="0" i="0" sz="1800" u="none" cap="none" strike="noStrike">
              <a:solidFill>
                <a:schemeClr val="dk1"/>
              </a:solidFill>
              <a:latin typeface="Calibri"/>
              <a:ea typeface="Calibri"/>
              <a:cs typeface="Calibri"/>
              <a:sym typeface="Calibri"/>
            </a:endParaRPr>
          </a:p>
        </p:txBody>
      </p:sp>
      <p:sp>
        <p:nvSpPr>
          <p:cNvPr id="52" name="Google Shape;52;p6"/>
          <p:cNvSpPr/>
          <p:nvPr/>
        </p:nvSpPr>
        <p:spPr>
          <a:xfrm>
            <a:off x="457200" y="731520"/>
            <a:ext cx="256032" cy="256032"/>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53" name="Google Shape;53;p6"/>
          <p:cNvSpPr/>
          <p:nvPr/>
        </p:nvSpPr>
        <p:spPr>
          <a:xfrm>
            <a:off x="804672" y="731520"/>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100"/>
              <a:buFont typeface="Calibri"/>
              <a:buNone/>
            </a:pPr>
            <a:r>
              <a:rPr b="0" i="0" lang="en" sz="1100" u="none" cap="none" strike="noStrike">
                <a:solidFill>
                  <a:srgbClr val="2D2D2D"/>
                </a:solidFill>
                <a:latin typeface="Calibri"/>
                <a:ea typeface="Calibri"/>
                <a:cs typeface="Calibri"/>
                <a:sym typeface="Calibri"/>
              </a:rPr>
              <a:t>How do bagging and boosting trace distinct trajectories in Bias²–Variance space as we vary params?</a:t>
            </a:r>
            <a:endParaRPr b="0" i="0" sz="1100" u="none" cap="none" strike="noStrike">
              <a:solidFill>
                <a:schemeClr val="dk1"/>
              </a:solidFill>
              <a:latin typeface="Calibri"/>
              <a:ea typeface="Calibri"/>
              <a:cs typeface="Calibri"/>
              <a:sym typeface="Calibri"/>
            </a:endParaRPr>
          </a:p>
        </p:txBody>
      </p:sp>
      <p:sp>
        <p:nvSpPr>
          <p:cNvPr id="54" name="Google Shape;54;p6"/>
          <p:cNvSpPr/>
          <p:nvPr/>
        </p:nvSpPr>
        <p:spPr>
          <a:xfrm>
            <a:off x="457200" y="1143000"/>
            <a:ext cx="256032" cy="256032"/>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55" name="Google Shape;55;p6"/>
          <p:cNvSpPr/>
          <p:nvPr/>
        </p:nvSpPr>
        <p:spPr>
          <a:xfrm>
            <a:off x="804672" y="1143000"/>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100"/>
              <a:buFont typeface="Calibri"/>
              <a:buNone/>
            </a:pPr>
            <a:r>
              <a:rPr lang="en" sz="1100">
                <a:solidFill>
                  <a:srgbClr val="2D2D2D"/>
                </a:solidFill>
                <a:latin typeface="Calibri"/>
                <a:ea typeface="Calibri"/>
                <a:cs typeface="Calibri"/>
                <a:sym typeface="Calibri"/>
              </a:rPr>
              <a:t>Do hybrid constructions interpolate between their parents, or can they reach strictly better bias-variance </a:t>
            </a:r>
            <a:r>
              <a:rPr lang="en" sz="1100">
                <a:solidFill>
                  <a:srgbClr val="2D2D2D"/>
                </a:solidFill>
                <a:latin typeface="Calibri"/>
                <a:ea typeface="Calibri"/>
                <a:cs typeface="Calibri"/>
                <a:sym typeface="Calibri"/>
              </a:rPr>
              <a:t>trade offs</a:t>
            </a:r>
            <a:r>
              <a:rPr lang="en" sz="1100">
                <a:solidFill>
                  <a:srgbClr val="2D2D2D"/>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56" name="Google Shape;56;p6"/>
          <p:cNvSpPr/>
          <p:nvPr/>
        </p:nvSpPr>
        <p:spPr>
          <a:xfrm>
            <a:off x="4754880" y="731520"/>
            <a:ext cx="256032" cy="256032"/>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57" name="Google Shape;57;p6"/>
          <p:cNvSpPr/>
          <p:nvPr/>
        </p:nvSpPr>
        <p:spPr>
          <a:xfrm>
            <a:off x="5102352" y="731520"/>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100"/>
              <a:buFont typeface="Calibri"/>
              <a:buNone/>
            </a:pPr>
            <a:r>
              <a:rPr b="0" i="0" lang="en" sz="1100" u="none" cap="none" strike="noStrike">
                <a:solidFill>
                  <a:srgbClr val="2D2D2D"/>
                </a:solidFill>
                <a:latin typeface="Calibri"/>
                <a:ea typeface="Calibri"/>
                <a:cs typeface="Calibri"/>
                <a:sym typeface="Calibri"/>
              </a:rPr>
              <a:t>Can Covar(f_bag, f_boost) predict when </a:t>
            </a:r>
            <a:r>
              <a:rPr lang="en" sz="1100">
                <a:solidFill>
                  <a:srgbClr val="2D2D2D"/>
                </a:solidFill>
                <a:latin typeface="Calibri"/>
                <a:ea typeface="Calibri"/>
                <a:cs typeface="Calibri"/>
                <a:sym typeface="Calibri"/>
              </a:rPr>
              <a:t>convex mixtures will improve total error?</a:t>
            </a:r>
            <a:endParaRPr sz="1100">
              <a:solidFill>
                <a:srgbClr val="2D2D2D"/>
              </a:solidFill>
              <a:latin typeface="Calibri"/>
              <a:ea typeface="Calibri"/>
              <a:cs typeface="Calibri"/>
              <a:sym typeface="Calibri"/>
            </a:endParaRPr>
          </a:p>
        </p:txBody>
      </p:sp>
      <p:sp>
        <p:nvSpPr>
          <p:cNvPr id="58" name="Google Shape;58;p6"/>
          <p:cNvSpPr/>
          <p:nvPr/>
        </p:nvSpPr>
        <p:spPr>
          <a:xfrm>
            <a:off x="4754880" y="1143000"/>
            <a:ext cx="256032" cy="256032"/>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59" name="Google Shape;59;p6"/>
          <p:cNvSpPr/>
          <p:nvPr/>
        </p:nvSpPr>
        <p:spPr>
          <a:xfrm>
            <a:off x="5102352" y="1143000"/>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100"/>
              <a:buFont typeface="Calibri"/>
              <a:buNone/>
            </a:pPr>
            <a:r>
              <a:rPr b="0" i="0" lang="en" sz="1100" u="none" cap="none" strike="noStrike">
                <a:solidFill>
                  <a:srgbClr val="2D2D2D"/>
                </a:solidFill>
                <a:latin typeface="Calibri"/>
                <a:ea typeface="Calibri"/>
                <a:cs typeface="Calibri"/>
                <a:sym typeface="Calibri"/>
              </a:rPr>
              <a:t>Does diversity stay reliable under noise?</a:t>
            </a:r>
            <a:r>
              <a:rPr lang="en" sz="1100">
                <a:solidFill>
                  <a:srgbClr val="2D2D2D"/>
                </a:solidFill>
                <a:latin typeface="Calibri"/>
                <a:ea typeface="Calibri"/>
                <a:cs typeface="Calibri"/>
                <a:sym typeface="Calibri"/>
              </a:rPr>
              <a:t> Or does noise-induced disagreement become a misleading signal?</a:t>
            </a:r>
            <a:endParaRPr sz="1100">
              <a:solidFill>
                <a:srgbClr val="2D2D2D"/>
              </a:solidFill>
              <a:latin typeface="Calibri"/>
              <a:ea typeface="Calibri"/>
              <a:cs typeface="Calibri"/>
              <a:sym typeface="Calibri"/>
            </a:endParaRPr>
          </a:p>
        </p:txBody>
      </p:sp>
      <p:cxnSp>
        <p:nvCxnSpPr>
          <p:cNvPr id="60" name="Google Shape;60;p6"/>
          <p:cNvCxnSpPr/>
          <p:nvPr/>
        </p:nvCxnSpPr>
        <p:spPr>
          <a:xfrm>
            <a:off x="457200" y="1691640"/>
            <a:ext cx="8229600" cy="0"/>
          </a:xfrm>
          <a:prstGeom prst="straightConnector1">
            <a:avLst/>
          </a:prstGeom>
          <a:noFill/>
          <a:ln cap="flat" cmpd="sng" w="12700">
            <a:solidFill>
              <a:srgbClr val="E5E7EB"/>
            </a:solidFill>
            <a:prstDash val="solid"/>
            <a:round/>
            <a:headEnd len="sm" w="sm" type="none"/>
            <a:tailEnd len="sm" w="sm" type="none"/>
          </a:ln>
        </p:spPr>
      </p:cxnSp>
      <p:sp>
        <p:nvSpPr>
          <p:cNvPr id="61" name="Google Shape;61;p6"/>
          <p:cNvSpPr/>
          <p:nvPr/>
        </p:nvSpPr>
        <p:spPr>
          <a:xfrm>
            <a:off x="457200" y="182880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600"/>
              <a:buFont typeface="Georgia"/>
              <a:buNone/>
            </a:pPr>
            <a:r>
              <a:rPr b="1" i="0" lang="en" sz="1600" u="none" cap="none" strike="noStrike">
                <a:solidFill>
                  <a:srgbClr val="2D2D2D"/>
                </a:solidFill>
                <a:latin typeface="Georgia"/>
                <a:ea typeface="Georgia"/>
                <a:cs typeface="Georgia"/>
                <a:sym typeface="Georgia"/>
              </a:rPr>
              <a:t>Prior Work</a:t>
            </a:r>
            <a:endParaRPr b="0" i="0" sz="1600" u="none" cap="none" strike="noStrike">
              <a:solidFill>
                <a:schemeClr val="dk1"/>
              </a:solidFill>
              <a:latin typeface="Calibri"/>
              <a:ea typeface="Calibri"/>
              <a:cs typeface="Calibri"/>
              <a:sym typeface="Calibri"/>
            </a:endParaRPr>
          </a:p>
        </p:txBody>
      </p:sp>
      <p:sp>
        <p:nvSpPr>
          <p:cNvPr id="62" name="Google Shape;62;p6"/>
          <p:cNvSpPr/>
          <p:nvPr/>
        </p:nvSpPr>
        <p:spPr>
          <a:xfrm>
            <a:off x="365750" y="2194550"/>
            <a:ext cx="1617300" cy="1999800"/>
          </a:xfrm>
          <a:prstGeom prst="rect">
            <a:avLst/>
          </a:prstGeom>
          <a:solidFill>
            <a:srgbClr val="FFFFFF"/>
          </a:solidFill>
          <a:ln cap="flat" cmpd="sng" w="10650">
            <a:solidFill>
              <a:srgbClr val="E5E7EB"/>
            </a:solidFill>
            <a:prstDash val="solid"/>
            <a:round/>
            <a:headEnd len="sm" w="sm" type="none"/>
            <a:tailEnd len="sm" w="sm" type="none"/>
          </a:ln>
        </p:spPr>
        <p:txBody>
          <a:bodyPr anchorCtr="0" anchor="ctr" bIns="102325" lIns="102325" spcFirstLastPara="1" rIns="102325" wrap="square" tIns="102325">
            <a:noAutofit/>
          </a:bodyPr>
          <a:lstStyle/>
          <a:p>
            <a:pPr indent="0" lvl="0" marL="0" rtl="0" algn="l">
              <a:spcBef>
                <a:spcPts val="0"/>
              </a:spcBef>
              <a:spcAft>
                <a:spcPts val="0"/>
              </a:spcAft>
              <a:buNone/>
            </a:pPr>
            <a:r>
              <a:t/>
            </a:r>
            <a:endParaRPr/>
          </a:p>
        </p:txBody>
      </p:sp>
      <p:sp>
        <p:nvSpPr>
          <p:cNvPr id="63" name="Google Shape;63;p6"/>
          <p:cNvSpPr/>
          <p:nvPr/>
        </p:nvSpPr>
        <p:spPr>
          <a:xfrm>
            <a:off x="365750" y="2194550"/>
            <a:ext cx="1617300" cy="68100"/>
          </a:xfrm>
          <a:prstGeom prst="rect">
            <a:avLst/>
          </a:prstGeom>
          <a:solidFill>
            <a:srgbClr val="3B82F6"/>
          </a:solidFill>
          <a:ln>
            <a:noFill/>
          </a:ln>
        </p:spPr>
        <p:txBody>
          <a:bodyPr anchorCtr="0" anchor="ctr" bIns="102325" lIns="102325" spcFirstLastPara="1" rIns="102325" wrap="square" tIns="102325">
            <a:noAutofit/>
          </a:bodyPr>
          <a:lstStyle/>
          <a:p>
            <a:pPr indent="0" lvl="0" marL="0" rtl="0" algn="l">
              <a:spcBef>
                <a:spcPts val="0"/>
              </a:spcBef>
              <a:spcAft>
                <a:spcPts val="0"/>
              </a:spcAft>
              <a:buNone/>
            </a:pPr>
            <a:r>
              <a:t/>
            </a:r>
            <a:endParaRPr/>
          </a:p>
        </p:txBody>
      </p:sp>
      <p:sp>
        <p:nvSpPr>
          <p:cNvPr id="64" name="Google Shape;64;p6"/>
          <p:cNvSpPr/>
          <p:nvPr/>
        </p:nvSpPr>
        <p:spPr>
          <a:xfrm>
            <a:off x="468102" y="2347879"/>
            <a:ext cx="1412400" cy="2559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2D2D2D"/>
              </a:buClr>
              <a:buSzPts val="1343"/>
              <a:buFont typeface="Calibri"/>
              <a:buNone/>
            </a:pPr>
            <a:r>
              <a:rPr b="1" lang="en" sz="1343">
                <a:solidFill>
                  <a:srgbClr val="2D2D2D"/>
                </a:solidFill>
                <a:latin typeface="Calibri"/>
                <a:ea typeface="Calibri"/>
                <a:cs typeface="Calibri"/>
                <a:sym typeface="Calibri"/>
              </a:rPr>
              <a:t>Bias- Variance </a:t>
            </a:r>
            <a:r>
              <a:rPr b="1" i="0" lang="en" sz="1343" u="none" cap="none" strike="noStrike">
                <a:solidFill>
                  <a:srgbClr val="2D2D2D"/>
                </a:solidFill>
                <a:latin typeface="Calibri"/>
                <a:ea typeface="Calibri"/>
                <a:cs typeface="Calibri"/>
                <a:sym typeface="Calibri"/>
              </a:rPr>
              <a:t>Decomposition</a:t>
            </a:r>
            <a:endParaRPr b="0" i="0" sz="1343" u="none" cap="none" strike="noStrike">
              <a:solidFill>
                <a:schemeClr val="dk1"/>
              </a:solidFill>
              <a:latin typeface="Calibri"/>
              <a:ea typeface="Calibri"/>
              <a:cs typeface="Calibri"/>
              <a:sym typeface="Calibri"/>
            </a:endParaRPr>
          </a:p>
        </p:txBody>
      </p:sp>
      <p:sp>
        <p:nvSpPr>
          <p:cNvPr id="65" name="Google Shape;65;p6"/>
          <p:cNvSpPr/>
          <p:nvPr/>
        </p:nvSpPr>
        <p:spPr>
          <a:xfrm>
            <a:off x="468277" y="2682771"/>
            <a:ext cx="1412400" cy="2130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3B82F6"/>
              </a:buClr>
              <a:buSzPts val="1007"/>
              <a:buFont typeface="Calibri"/>
              <a:buNone/>
            </a:pPr>
            <a:r>
              <a:rPr b="0" i="1" lang="en" sz="1007" u="none" cap="none" strike="noStrike">
                <a:solidFill>
                  <a:srgbClr val="3B82F6"/>
                </a:solidFill>
                <a:latin typeface="Calibri"/>
                <a:ea typeface="Calibri"/>
                <a:cs typeface="Calibri"/>
                <a:sym typeface="Calibri"/>
              </a:rPr>
              <a:t>Geman et al. 1992 [1]</a:t>
            </a:r>
            <a:endParaRPr b="0" i="0" sz="1007" u="none" cap="none" strike="noStrike">
              <a:solidFill>
                <a:schemeClr val="dk1"/>
              </a:solidFill>
              <a:latin typeface="Calibri"/>
              <a:ea typeface="Calibri"/>
              <a:cs typeface="Calibri"/>
              <a:sym typeface="Calibri"/>
            </a:endParaRPr>
          </a:p>
        </p:txBody>
      </p:sp>
      <p:sp>
        <p:nvSpPr>
          <p:cNvPr id="66" name="Google Shape;66;p6"/>
          <p:cNvSpPr/>
          <p:nvPr/>
        </p:nvSpPr>
        <p:spPr>
          <a:xfrm>
            <a:off x="468102" y="2891397"/>
            <a:ext cx="1412400" cy="5109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2D2D2D"/>
              </a:buClr>
              <a:buSzPts val="1007"/>
              <a:buFont typeface="Calibri"/>
              <a:buNone/>
            </a:pPr>
            <a:r>
              <a:rPr b="0" i="0" lang="en" sz="1007" u="none" cap="none" strike="noStrike">
                <a:solidFill>
                  <a:srgbClr val="2D2D2D"/>
                </a:solidFill>
                <a:latin typeface="Calibri"/>
                <a:ea typeface="Calibri"/>
                <a:cs typeface="Calibri"/>
                <a:sym typeface="Calibri"/>
              </a:rPr>
              <a:t>Error = Bias² + Var +</a:t>
            </a:r>
            <a:r>
              <a:rPr b="0" i="0" lang="en" sz="1007" u="none" cap="none" strike="noStrike">
                <a:solidFill>
                  <a:srgbClr val="2D2D2D"/>
                </a:solidFill>
                <a:latin typeface="Calibri"/>
                <a:ea typeface="Calibri"/>
                <a:cs typeface="Calibri"/>
                <a:sym typeface="Calibri"/>
              </a:rPr>
              <a:t> σ²</a:t>
            </a:r>
            <a:endParaRPr b="0" i="0" sz="1007" u="none" cap="none" strike="noStrike">
              <a:solidFill>
                <a:schemeClr val="dk1"/>
              </a:solidFill>
              <a:latin typeface="Calibri"/>
              <a:ea typeface="Calibri"/>
              <a:cs typeface="Calibri"/>
              <a:sym typeface="Calibri"/>
            </a:endParaRPr>
          </a:p>
        </p:txBody>
      </p:sp>
      <p:sp>
        <p:nvSpPr>
          <p:cNvPr id="67" name="Google Shape;67;p6"/>
          <p:cNvSpPr/>
          <p:nvPr/>
        </p:nvSpPr>
        <p:spPr>
          <a:xfrm>
            <a:off x="468102" y="3429697"/>
            <a:ext cx="1412400" cy="4683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6B7280"/>
              </a:buClr>
              <a:buSzPts val="1007"/>
              <a:buFont typeface="Calibri"/>
              <a:buNone/>
            </a:pPr>
            <a:r>
              <a:rPr b="0" i="1" lang="en" sz="1007" u="none" cap="none" strike="noStrike">
                <a:solidFill>
                  <a:srgbClr val="6B7280"/>
                </a:solidFill>
                <a:latin typeface="Calibri"/>
                <a:ea typeface="Calibri"/>
                <a:cs typeface="Calibri"/>
                <a:sym typeface="Calibri"/>
              </a:rPr>
              <a:t>✘ Static view — </a:t>
            </a:r>
            <a:r>
              <a:rPr i="1" lang="en" sz="1007">
                <a:solidFill>
                  <a:srgbClr val="6B7280"/>
                </a:solidFill>
                <a:latin typeface="Calibri"/>
                <a:ea typeface="Calibri"/>
                <a:cs typeface="Calibri"/>
                <a:sym typeface="Calibri"/>
              </a:rPr>
              <a:t>no notion of how models move in this space</a:t>
            </a:r>
            <a:endParaRPr b="0" i="0" sz="1007" u="none" cap="none" strike="noStrike">
              <a:solidFill>
                <a:schemeClr val="dk1"/>
              </a:solidFill>
              <a:latin typeface="Calibri"/>
              <a:ea typeface="Calibri"/>
              <a:cs typeface="Calibri"/>
              <a:sym typeface="Calibri"/>
            </a:endParaRPr>
          </a:p>
        </p:txBody>
      </p:sp>
      <p:sp>
        <p:nvSpPr>
          <p:cNvPr id="68" name="Google Shape;68;p6"/>
          <p:cNvSpPr/>
          <p:nvPr/>
        </p:nvSpPr>
        <p:spPr>
          <a:xfrm>
            <a:off x="2003379" y="2961193"/>
            <a:ext cx="81900" cy="255900"/>
          </a:xfrm>
          <a:prstGeom prst="rect">
            <a:avLst/>
          </a:prstGeom>
          <a:noFill/>
          <a:ln>
            <a:noFill/>
          </a:ln>
        </p:spPr>
        <p:txBody>
          <a:bodyPr anchorCtr="0" anchor="ctr" bIns="51150" lIns="102325" spcFirstLastPara="1" rIns="102325" wrap="square" tIns="51150">
            <a:noAutofit/>
          </a:bodyPr>
          <a:lstStyle/>
          <a:p>
            <a:pPr indent="0" lvl="0" marL="0" marR="0" rtl="0" algn="ctr">
              <a:spcBef>
                <a:spcPts val="0"/>
              </a:spcBef>
              <a:spcAft>
                <a:spcPts val="0"/>
              </a:spcAft>
              <a:buClr>
                <a:srgbClr val="6B7280"/>
              </a:buClr>
              <a:buSzPts val="1567"/>
              <a:buFont typeface="Calibri"/>
              <a:buNone/>
            </a:pPr>
            <a:r>
              <a:rPr b="0" i="0" lang="en" sz="1567" u="none" cap="none" strike="noStrike">
                <a:solidFill>
                  <a:srgbClr val="6B7280"/>
                </a:solidFill>
                <a:latin typeface="Calibri"/>
                <a:ea typeface="Calibri"/>
                <a:cs typeface="Calibri"/>
                <a:sym typeface="Calibri"/>
              </a:rPr>
              <a:t>→</a:t>
            </a:r>
            <a:endParaRPr b="0" i="0" sz="1567" u="none" cap="none" strike="noStrike">
              <a:solidFill>
                <a:schemeClr val="dk1"/>
              </a:solidFill>
              <a:latin typeface="Calibri"/>
              <a:ea typeface="Calibri"/>
              <a:cs typeface="Calibri"/>
              <a:sym typeface="Calibri"/>
            </a:endParaRPr>
          </a:p>
        </p:txBody>
      </p:sp>
      <p:sp>
        <p:nvSpPr>
          <p:cNvPr id="69" name="Google Shape;69;p6"/>
          <p:cNvSpPr/>
          <p:nvPr/>
        </p:nvSpPr>
        <p:spPr>
          <a:xfrm>
            <a:off x="2105731" y="2194550"/>
            <a:ext cx="1617300" cy="1999800"/>
          </a:xfrm>
          <a:prstGeom prst="rect">
            <a:avLst/>
          </a:prstGeom>
          <a:solidFill>
            <a:srgbClr val="FFFFFF"/>
          </a:solidFill>
          <a:ln cap="flat" cmpd="sng" w="10650">
            <a:solidFill>
              <a:srgbClr val="E5E7EB"/>
            </a:solidFill>
            <a:prstDash val="solid"/>
            <a:round/>
            <a:headEnd len="sm" w="sm" type="none"/>
            <a:tailEnd len="sm" w="sm" type="none"/>
          </a:ln>
        </p:spPr>
        <p:txBody>
          <a:bodyPr anchorCtr="0" anchor="ctr" bIns="102325" lIns="102325" spcFirstLastPara="1" rIns="102325" wrap="square" tIns="102325">
            <a:noAutofit/>
          </a:bodyPr>
          <a:lstStyle/>
          <a:p>
            <a:pPr indent="0" lvl="0" marL="0" rtl="0" algn="l">
              <a:spcBef>
                <a:spcPts val="0"/>
              </a:spcBef>
              <a:spcAft>
                <a:spcPts val="0"/>
              </a:spcAft>
              <a:buNone/>
            </a:pPr>
            <a:r>
              <a:t/>
            </a:r>
            <a:endParaRPr/>
          </a:p>
        </p:txBody>
      </p:sp>
      <p:sp>
        <p:nvSpPr>
          <p:cNvPr id="70" name="Google Shape;70;p6"/>
          <p:cNvSpPr/>
          <p:nvPr/>
        </p:nvSpPr>
        <p:spPr>
          <a:xfrm>
            <a:off x="2105731" y="2194550"/>
            <a:ext cx="1617300" cy="68100"/>
          </a:xfrm>
          <a:prstGeom prst="rect">
            <a:avLst/>
          </a:prstGeom>
          <a:solidFill>
            <a:srgbClr val="3B82F6"/>
          </a:solidFill>
          <a:ln>
            <a:noFill/>
          </a:ln>
        </p:spPr>
        <p:txBody>
          <a:bodyPr anchorCtr="0" anchor="ctr" bIns="102325" lIns="102325" spcFirstLastPara="1" rIns="102325" wrap="square" tIns="102325">
            <a:noAutofit/>
          </a:bodyPr>
          <a:lstStyle/>
          <a:p>
            <a:pPr indent="0" lvl="0" marL="0" rtl="0" algn="l">
              <a:spcBef>
                <a:spcPts val="0"/>
              </a:spcBef>
              <a:spcAft>
                <a:spcPts val="0"/>
              </a:spcAft>
              <a:buNone/>
            </a:pPr>
            <a:r>
              <a:t/>
            </a:r>
            <a:endParaRPr/>
          </a:p>
        </p:txBody>
      </p:sp>
      <p:sp>
        <p:nvSpPr>
          <p:cNvPr id="71" name="Google Shape;71;p6"/>
          <p:cNvSpPr/>
          <p:nvPr/>
        </p:nvSpPr>
        <p:spPr>
          <a:xfrm>
            <a:off x="2208083" y="2347879"/>
            <a:ext cx="1412400" cy="2559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2D2D2D"/>
              </a:buClr>
              <a:buSzPts val="1343"/>
              <a:buFont typeface="Calibri"/>
              <a:buNone/>
            </a:pPr>
            <a:r>
              <a:rPr b="1" lang="en" sz="1343">
                <a:solidFill>
                  <a:srgbClr val="2D2D2D"/>
                </a:solidFill>
                <a:latin typeface="Calibri"/>
                <a:ea typeface="Calibri"/>
                <a:cs typeface="Calibri"/>
                <a:sym typeface="Calibri"/>
              </a:rPr>
              <a:t>Bagging (</a:t>
            </a:r>
            <a:r>
              <a:rPr b="1" i="0" lang="en" sz="1343" u="none" cap="none" strike="noStrike">
                <a:solidFill>
                  <a:srgbClr val="2D2D2D"/>
                </a:solidFill>
                <a:latin typeface="Calibri"/>
                <a:ea typeface="Calibri"/>
                <a:cs typeface="Calibri"/>
                <a:sym typeface="Calibri"/>
              </a:rPr>
              <a:t>Variance ↓)</a:t>
            </a:r>
            <a:endParaRPr b="0" i="0" sz="1343" u="none" cap="none" strike="noStrike">
              <a:solidFill>
                <a:schemeClr val="dk1"/>
              </a:solidFill>
              <a:latin typeface="Calibri"/>
              <a:ea typeface="Calibri"/>
              <a:cs typeface="Calibri"/>
              <a:sym typeface="Calibri"/>
            </a:endParaRPr>
          </a:p>
        </p:txBody>
      </p:sp>
      <p:sp>
        <p:nvSpPr>
          <p:cNvPr id="72" name="Google Shape;72;p6"/>
          <p:cNvSpPr/>
          <p:nvPr/>
        </p:nvSpPr>
        <p:spPr>
          <a:xfrm>
            <a:off x="2208183" y="2686629"/>
            <a:ext cx="1412400" cy="2130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3B82F6"/>
              </a:buClr>
              <a:buSzPts val="1007"/>
              <a:buFont typeface="Calibri"/>
              <a:buNone/>
            </a:pPr>
            <a:r>
              <a:rPr b="0" i="1" lang="en" sz="1007" u="none" cap="none" strike="noStrike">
                <a:solidFill>
                  <a:srgbClr val="3B82F6"/>
                </a:solidFill>
                <a:latin typeface="Calibri"/>
                <a:ea typeface="Calibri"/>
                <a:cs typeface="Calibri"/>
                <a:sym typeface="Calibri"/>
              </a:rPr>
              <a:t>Breiman 1996 [2]</a:t>
            </a:r>
            <a:endParaRPr b="0" i="0" sz="1007" u="none" cap="none" strike="noStrike">
              <a:solidFill>
                <a:schemeClr val="dk1"/>
              </a:solidFill>
              <a:latin typeface="Calibri"/>
              <a:ea typeface="Calibri"/>
              <a:cs typeface="Calibri"/>
              <a:sym typeface="Calibri"/>
            </a:endParaRPr>
          </a:p>
        </p:txBody>
      </p:sp>
      <p:sp>
        <p:nvSpPr>
          <p:cNvPr id="73" name="Google Shape;73;p6"/>
          <p:cNvSpPr/>
          <p:nvPr/>
        </p:nvSpPr>
        <p:spPr>
          <a:xfrm>
            <a:off x="2208083" y="2982506"/>
            <a:ext cx="1412400" cy="5109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2D2D2D"/>
              </a:buClr>
              <a:buSzPts val="1007"/>
              <a:buFont typeface="Calibri"/>
              <a:buNone/>
            </a:pPr>
            <a:r>
              <a:rPr b="0" i="0" lang="en" sz="1007" u="none" cap="none" strike="noStrike">
                <a:solidFill>
                  <a:srgbClr val="2D2D2D"/>
                </a:solidFill>
                <a:latin typeface="Calibri"/>
                <a:ea typeface="Calibri"/>
                <a:cs typeface="Calibri"/>
                <a:sym typeface="Calibri"/>
              </a:rPr>
              <a:t>Bagging averages unstable learners</a:t>
            </a:r>
            <a:endParaRPr b="0" i="0" sz="1007" u="none" cap="none" strike="noStrike">
              <a:solidFill>
                <a:schemeClr val="dk1"/>
              </a:solidFill>
              <a:latin typeface="Calibri"/>
              <a:ea typeface="Calibri"/>
              <a:cs typeface="Calibri"/>
              <a:sym typeface="Calibri"/>
            </a:endParaRPr>
          </a:p>
        </p:txBody>
      </p:sp>
      <p:sp>
        <p:nvSpPr>
          <p:cNvPr id="74" name="Google Shape;74;p6"/>
          <p:cNvSpPr/>
          <p:nvPr/>
        </p:nvSpPr>
        <p:spPr>
          <a:xfrm>
            <a:off x="2208078" y="3545664"/>
            <a:ext cx="1412400" cy="4683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6B7280"/>
              </a:buClr>
              <a:buSzPts val="1007"/>
              <a:buFont typeface="Calibri"/>
              <a:buNone/>
            </a:pPr>
            <a:r>
              <a:rPr b="0" i="1" lang="en" sz="1007" u="none" cap="none" strike="noStrike">
                <a:solidFill>
                  <a:srgbClr val="6B7280"/>
                </a:solidFill>
                <a:latin typeface="Calibri"/>
                <a:ea typeface="Calibri"/>
                <a:cs typeface="Calibri"/>
                <a:sym typeface="Calibri"/>
              </a:rPr>
              <a:t>✘ N</a:t>
            </a:r>
            <a:r>
              <a:rPr i="1" lang="en" sz="1007">
                <a:solidFill>
                  <a:srgbClr val="6B7280"/>
                </a:solidFill>
                <a:latin typeface="Calibri"/>
                <a:ea typeface="Calibri"/>
                <a:cs typeface="Calibri"/>
                <a:sym typeface="Calibri"/>
              </a:rPr>
              <a:t>o analysis of bias–variance trajectories </a:t>
            </a:r>
            <a:r>
              <a:rPr i="1" lang="en" sz="1007">
                <a:solidFill>
                  <a:srgbClr val="6B7280"/>
                </a:solidFill>
                <a:latin typeface="Calibri"/>
                <a:ea typeface="Calibri"/>
                <a:cs typeface="Calibri"/>
                <a:sym typeface="Calibri"/>
              </a:rPr>
              <a:t>across </a:t>
            </a:r>
            <a:r>
              <a:rPr i="1" lang="en" sz="1007">
                <a:solidFill>
                  <a:srgbClr val="6B7280"/>
                </a:solidFill>
                <a:latin typeface="Calibri"/>
                <a:ea typeface="Calibri"/>
                <a:cs typeface="Calibri"/>
                <a:sym typeface="Calibri"/>
              </a:rPr>
              <a:t>conditions</a:t>
            </a:r>
            <a:endParaRPr b="0" i="0" sz="1007" u="none" cap="none" strike="noStrike">
              <a:solidFill>
                <a:schemeClr val="dk1"/>
              </a:solidFill>
              <a:latin typeface="Calibri"/>
              <a:ea typeface="Calibri"/>
              <a:cs typeface="Calibri"/>
              <a:sym typeface="Calibri"/>
            </a:endParaRPr>
          </a:p>
        </p:txBody>
      </p:sp>
      <p:sp>
        <p:nvSpPr>
          <p:cNvPr id="75" name="Google Shape;75;p6"/>
          <p:cNvSpPr/>
          <p:nvPr/>
        </p:nvSpPr>
        <p:spPr>
          <a:xfrm>
            <a:off x="3743361" y="2961193"/>
            <a:ext cx="81900" cy="255900"/>
          </a:xfrm>
          <a:prstGeom prst="rect">
            <a:avLst/>
          </a:prstGeom>
          <a:noFill/>
          <a:ln>
            <a:noFill/>
          </a:ln>
        </p:spPr>
        <p:txBody>
          <a:bodyPr anchorCtr="0" anchor="ctr" bIns="51150" lIns="102325" spcFirstLastPara="1" rIns="102325" wrap="square" tIns="51150">
            <a:noAutofit/>
          </a:bodyPr>
          <a:lstStyle/>
          <a:p>
            <a:pPr indent="0" lvl="0" marL="0" marR="0" rtl="0" algn="ctr">
              <a:spcBef>
                <a:spcPts val="0"/>
              </a:spcBef>
              <a:spcAft>
                <a:spcPts val="0"/>
              </a:spcAft>
              <a:buClr>
                <a:srgbClr val="6B7280"/>
              </a:buClr>
              <a:buSzPts val="1567"/>
              <a:buFont typeface="Calibri"/>
              <a:buNone/>
            </a:pPr>
            <a:r>
              <a:rPr b="0" i="0" lang="en" sz="1567" u="none" cap="none" strike="noStrike">
                <a:solidFill>
                  <a:srgbClr val="6B7280"/>
                </a:solidFill>
                <a:latin typeface="Calibri"/>
                <a:ea typeface="Calibri"/>
                <a:cs typeface="Calibri"/>
                <a:sym typeface="Calibri"/>
              </a:rPr>
              <a:t>→</a:t>
            </a:r>
            <a:endParaRPr b="0" i="0" sz="1567" u="none" cap="none" strike="noStrike">
              <a:solidFill>
                <a:schemeClr val="dk1"/>
              </a:solidFill>
              <a:latin typeface="Calibri"/>
              <a:ea typeface="Calibri"/>
              <a:cs typeface="Calibri"/>
              <a:sym typeface="Calibri"/>
            </a:endParaRPr>
          </a:p>
        </p:txBody>
      </p:sp>
      <p:sp>
        <p:nvSpPr>
          <p:cNvPr id="76" name="Google Shape;76;p6"/>
          <p:cNvSpPr/>
          <p:nvPr/>
        </p:nvSpPr>
        <p:spPr>
          <a:xfrm>
            <a:off x="3845713" y="2194550"/>
            <a:ext cx="1617300" cy="1999800"/>
          </a:xfrm>
          <a:prstGeom prst="rect">
            <a:avLst/>
          </a:prstGeom>
          <a:solidFill>
            <a:srgbClr val="FFFFFF"/>
          </a:solidFill>
          <a:ln cap="flat" cmpd="sng" w="10650">
            <a:solidFill>
              <a:srgbClr val="E5E7EB"/>
            </a:solidFill>
            <a:prstDash val="solid"/>
            <a:round/>
            <a:headEnd len="sm" w="sm" type="none"/>
            <a:tailEnd len="sm" w="sm" type="none"/>
          </a:ln>
        </p:spPr>
        <p:txBody>
          <a:bodyPr anchorCtr="0" anchor="ctr" bIns="102325" lIns="102325" spcFirstLastPara="1" rIns="102325" wrap="square" tIns="102325">
            <a:noAutofit/>
          </a:bodyPr>
          <a:lstStyle/>
          <a:p>
            <a:pPr indent="0" lvl="0" marL="0" rtl="0" algn="l">
              <a:spcBef>
                <a:spcPts val="0"/>
              </a:spcBef>
              <a:spcAft>
                <a:spcPts val="0"/>
              </a:spcAft>
              <a:buNone/>
            </a:pPr>
            <a:r>
              <a:t/>
            </a:r>
            <a:endParaRPr/>
          </a:p>
        </p:txBody>
      </p:sp>
      <p:sp>
        <p:nvSpPr>
          <p:cNvPr id="77" name="Google Shape;77;p6"/>
          <p:cNvSpPr/>
          <p:nvPr/>
        </p:nvSpPr>
        <p:spPr>
          <a:xfrm>
            <a:off x="3845712" y="2194550"/>
            <a:ext cx="1617300" cy="68100"/>
          </a:xfrm>
          <a:prstGeom prst="rect">
            <a:avLst/>
          </a:prstGeom>
          <a:solidFill>
            <a:srgbClr val="EF4444"/>
          </a:solidFill>
          <a:ln>
            <a:noFill/>
          </a:ln>
        </p:spPr>
        <p:txBody>
          <a:bodyPr anchorCtr="0" anchor="ctr" bIns="102325" lIns="102325" spcFirstLastPara="1" rIns="102325" wrap="square" tIns="102325">
            <a:noAutofit/>
          </a:bodyPr>
          <a:lstStyle/>
          <a:p>
            <a:pPr indent="0" lvl="0" marL="0" rtl="0" algn="l">
              <a:spcBef>
                <a:spcPts val="0"/>
              </a:spcBef>
              <a:spcAft>
                <a:spcPts val="0"/>
              </a:spcAft>
              <a:buNone/>
            </a:pPr>
            <a:r>
              <a:t/>
            </a:r>
            <a:endParaRPr/>
          </a:p>
        </p:txBody>
      </p:sp>
      <p:sp>
        <p:nvSpPr>
          <p:cNvPr id="78" name="Google Shape;78;p6"/>
          <p:cNvSpPr/>
          <p:nvPr/>
        </p:nvSpPr>
        <p:spPr>
          <a:xfrm>
            <a:off x="3948076" y="2347875"/>
            <a:ext cx="1515000" cy="2559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2D2D2D"/>
              </a:buClr>
              <a:buSzPts val="1343"/>
              <a:buFont typeface="Calibri"/>
              <a:buNone/>
            </a:pPr>
            <a:r>
              <a:rPr b="1" lang="en" sz="1343">
                <a:solidFill>
                  <a:srgbClr val="2D2D2D"/>
                </a:solidFill>
                <a:latin typeface="Calibri"/>
                <a:ea typeface="Calibri"/>
                <a:cs typeface="Calibri"/>
                <a:sym typeface="Calibri"/>
              </a:rPr>
              <a:t>Boosting</a:t>
            </a:r>
            <a:r>
              <a:rPr b="1" lang="en" sz="1343">
                <a:solidFill>
                  <a:srgbClr val="2D2D2D"/>
                </a:solidFill>
                <a:latin typeface="Calibri"/>
                <a:ea typeface="Calibri"/>
                <a:cs typeface="Calibri"/>
                <a:sym typeface="Calibri"/>
              </a:rPr>
              <a:t> </a:t>
            </a:r>
            <a:r>
              <a:rPr b="1" lang="en" sz="1343">
                <a:solidFill>
                  <a:srgbClr val="2D2D2D"/>
                </a:solidFill>
                <a:latin typeface="Calibri"/>
                <a:ea typeface="Calibri"/>
                <a:cs typeface="Calibri"/>
                <a:sym typeface="Calibri"/>
              </a:rPr>
              <a:t>(</a:t>
            </a:r>
            <a:r>
              <a:rPr b="1" i="0" lang="en" sz="1343" u="none" cap="none" strike="noStrike">
                <a:solidFill>
                  <a:srgbClr val="2D2D2D"/>
                </a:solidFill>
                <a:latin typeface="Calibri"/>
                <a:ea typeface="Calibri"/>
                <a:cs typeface="Calibri"/>
                <a:sym typeface="Calibri"/>
              </a:rPr>
              <a:t>Bias</a:t>
            </a:r>
            <a:r>
              <a:rPr b="1" i="0" lang="en" sz="1343" u="none" cap="none" strike="noStrike">
                <a:solidFill>
                  <a:srgbClr val="2D2D2D"/>
                </a:solidFill>
                <a:latin typeface="Calibri"/>
                <a:ea typeface="Calibri"/>
                <a:cs typeface="Calibri"/>
                <a:sym typeface="Calibri"/>
              </a:rPr>
              <a:t> </a:t>
            </a:r>
            <a:r>
              <a:rPr b="1" i="0" lang="en" sz="1343" u="none" cap="none" strike="noStrike">
                <a:solidFill>
                  <a:srgbClr val="2D2D2D"/>
                </a:solidFill>
                <a:latin typeface="Calibri"/>
                <a:ea typeface="Calibri"/>
                <a:cs typeface="Calibri"/>
                <a:sym typeface="Calibri"/>
              </a:rPr>
              <a:t>↓)</a:t>
            </a:r>
            <a:endParaRPr b="0" i="0" sz="1343" u="none" cap="none" strike="noStrike">
              <a:solidFill>
                <a:schemeClr val="dk1"/>
              </a:solidFill>
              <a:latin typeface="Calibri"/>
              <a:ea typeface="Calibri"/>
              <a:cs typeface="Calibri"/>
              <a:sym typeface="Calibri"/>
            </a:endParaRPr>
          </a:p>
        </p:txBody>
      </p:sp>
      <p:sp>
        <p:nvSpPr>
          <p:cNvPr id="79" name="Google Shape;79;p6"/>
          <p:cNvSpPr/>
          <p:nvPr/>
        </p:nvSpPr>
        <p:spPr>
          <a:xfrm>
            <a:off x="3948152" y="2682769"/>
            <a:ext cx="1412400" cy="2130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EF4444"/>
              </a:buClr>
              <a:buSzPts val="1007"/>
              <a:buFont typeface="Calibri"/>
              <a:buNone/>
            </a:pPr>
            <a:r>
              <a:rPr b="0" i="1" lang="en" sz="1007" u="none" cap="none" strike="noStrike">
                <a:solidFill>
                  <a:srgbClr val="EF4444"/>
                </a:solidFill>
                <a:latin typeface="Calibri"/>
                <a:ea typeface="Calibri"/>
                <a:cs typeface="Calibri"/>
                <a:sym typeface="Calibri"/>
              </a:rPr>
              <a:t>Friedman 2001</a:t>
            </a:r>
            <a:r>
              <a:rPr b="0" i="1" lang="en" sz="1007" u="none" cap="none" strike="noStrike">
                <a:solidFill>
                  <a:srgbClr val="EF4444"/>
                </a:solidFill>
                <a:latin typeface="Calibri"/>
                <a:ea typeface="Calibri"/>
                <a:cs typeface="Calibri"/>
                <a:sym typeface="Calibri"/>
              </a:rPr>
              <a:t> [3]</a:t>
            </a:r>
            <a:endParaRPr b="0" i="0" sz="1007" u="none" cap="none" strike="noStrike">
              <a:solidFill>
                <a:schemeClr val="dk1"/>
              </a:solidFill>
              <a:latin typeface="Calibri"/>
              <a:ea typeface="Calibri"/>
              <a:cs typeface="Calibri"/>
              <a:sym typeface="Calibri"/>
            </a:endParaRPr>
          </a:p>
        </p:txBody>
      </p:sp>
      <p:sp>
        <p:nvSpPr>
          <p:cNvPr id="80" name="Google Shape;80;p6"/>
          <p:cNvSpPr/>
          <p:nvPr/>
        </p:nvSpPr>
        <p:spPr>
          <a:xfrm>
            <a:off x="3948064" y="2907963"/>
            <a:ext cx="1412400" cy="5109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2D2D2D"/>
              </a:buClr>
              <a:buSzPts val="1007"/>
              <a:buFont typeface="Calibri"/>
              <a:buNone/>
            </a:pPr>
            <a:r>
              <a:rPr lang="en" sz="1007">
                <a:solidFill>
                  <a:srgbClr val="2D2D2D"/>
                </a:solidFill>
                <a:latin typeface="Calibri"/>
                <a:ea typeface="Calibri"/>
                <a:cs typeface="Calibri"/>
                <a:sym typeface="Calibri"/>
              </a:rPr>
              <a:t>Sequential fitting reduces bias via additive modeling</a:t>
            </a:r>
            <a:endParaRPr b="0" i="0" sz="1007" u="none" cap="none" strike="noStrike">
              <a:solidFill>
                <a:schemeClr val="dk1"/>
              </a:solidFill>
              <a:latin typeface="Calibri"/>
              <a:ea typeface="Calibri"/>
              <a:cs typeface="Calibri"/>
              <a:sym typeface="Calibri"/>
            </a:endParaRPr>
          </a:p>
        </p:txBody>
      </p:sp>
      <p:sp>
        <p:nvSpPr>
          <p:cNvPr id="81" name="Google Shape;81;p6"/>
          <p:cNvSpPr/>
          <p:nvPr/>
        </p:nvSpPr>
        <p:spPr>
          <a:xfrm>
            <a:off x="3931510" y="3553939"/>
            <a:ext cx="1515000" cy="4683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6B7280"/>
              </a:buClr>
              <a:buSzPts val="1007"/>
              <a:buFont typeface="Calibri"/>
              <a:buNone/>
            </a:pPr>
            <a:r>
              <a:rPr i="1" lang="en" sz="1007">
                <a:solidFill>
                  <a:srgbClr val="6B7280"/>
                </a:solidFill>
                <a:latin typeface="Calibri"/>
                <a:ea typeface="Calibri"/>
                <a:cs typeface="Calibri"/>
                <a:sym typeface="Calibri"/>
              </a:rPr>
              <a:t>✘ Limited understanding of variance growth </a:t>
            </a:r>
            <a:r>
              <a:rPr i="1" lang="en" sz="1007">
                <a:solidFill>
                  <a:srgbClr val="6B7280"/>
                </a:solidFill>
                <a:latin typeface="Calibri"/>
                <a:ea typeface="Calibri"/>
                <a:cs typeface="Calibri"/>
                <a:sym typeface="Calibri"/>
              </a:rPr>
              <a:t>trajectory</a:t>
            </a:r>
            <a:endParaRPr b="0" i="0" sz="1007" u="none" cap="none" strike="noStrike">
              <a:solidFill>
                <a:schemeClr val="dk1"/>
              </a:solidFill>
              <a:latin typeface="Calibri"/>
              <a:ea typeface="Calibri"/>
              <a:cs typeface="Calibri"/>
              <a:sym typeface="Calibri"/>
            </a:endParaRPr>
          </a:p>
        </p:txBody>
      </p:sp>
      <p:sp>
        <p:nvSpPr>
          <p:cNvPr id="82" name="Google Shape;82;p6"/>
          <p:cNvSpPr/>
          <p:nvPr/>
        </p:nvSpPr>
        <p:spPr>
          <a:xfrm>
            <a:off x="5483342" y="2961193"/>
            <a:ext cx="81900" cy="255900"/>
          </a:xfrm>
          <a:prstGeom prst="rect">
            <a:avLst/>
          </a:prstGeom>
          <a:noFill/>
          <a:ln>
            <a:noFill/>
          </a:ln>
        </p:spPr>
        <p:txBody>
          <a:bodyPr anchorCtr="0" anchor="ctr" bIns="51150" lIns="102325" spcFirstLastPara="1" rIns="102325" wrap="square" tIns="51150">
            <a:noAutofit/>
          </a:bodyPr>
          <a:lstStyle/>
          <a:p>
            <a:pPr indent="0" lvl="0" marL="0" marR="0" rtl="0" algn="ctr">
              <a:spcBef>
                <a:spcPts val="0"/>
              </a:spcBef>
              <a:spcAft>
                <a:spcPts val="0"/>
              </a:spcAft>
              <a:buClr>
                <a:srgbClr val="6B7280"/>
              </a:buClr>
              <a:buSzPts val="1567"/>
              <a:buFont typeface="Calibri"/>
              <a:buNone/>
            </a:pPr>
            <a:r>
              <a:rPr b="0" i="0" lang="en" sz="1567" u="none" cap="none" strike="noStrike">
                <a:solidFill>
                  <a:srgbClr val="6B7280"/>
                </a:solidFill>
                <a:latin typeface="Calibri"/>
                <a:ea typeface="Calibri"/>
                <a:cs typeface="Calibri"/>
                <a:sym typeface="Calibri"/>
              </a:rPr>
              <a:t>→</a:t>
            </a:r>
            <a:endParaRPr b="0" i="0" sz="1567" u="none" cap="none" strike="noStrike">
              <a:solidFill>
                <a:schemeClr val="dk1"/>
              </a:solidFill>
              <a:latin typeface="Calibri"/>
              <a:ea typeface="Calibri"/>
              <a:cs typeface="Calibri"/>
              <a:sym typeface="Calibri"/>
            </a:endParaRPr>
          </a:p>
        </p:txBody>
      </p:sp>
      <p:sp>
        <p:nvSpPr>
          <p:cNvPr id="83" name="Google Shape;83;p6"/>
          <p:cNvSpPr/>
          <p:nvPr/>
        </p:nvSpPr>
        <p:spPr>
          <a:xfrm>
            <a:off x="5585694" y="2194550"/>
            <a:ext cx="1617300" cy="1999800"/>
          </a:xfrm>
          <a:prstGeom prst="rect">
            <a:avLst/>
          </a:prstGeom>
          <a:solidFill>
            <a:srgbClr val="FFFFFF"/>
          </a:solidFill>
          <a:ln cap="flat" cmpd="sng" w="10650">
            <a:solidFill>
              <a:srgbClr val="E5E7EB"/>
            </a:solidFill>
            <a:prstDash val="solid"/>
            <a:round/>
            <a:headEnd len="sm" w="sm" type="none"/>
            <a:tailEnd len="sm" w="sm" type="none"/>
          </a:ln>
        </p:spPr>
        <p:txBody>
          <a:bodyPr anchorCtr="0" anchor="ctr" bIns="102325" lIns="102325" spcFirstLastPara="1" rIns="102325" wrap="square" tIns="102325">
            <a:noAutofit/>
          </a:bodyPr>
          <a:lstStyle/>
          <a:p>
            <a:pPr indent="0" lvl="0" marL="0" rtl="0" algn="l">
              <a:spcBef>
                <a:spcPts val="0"/>
              </a:spcBef>
              <a:spcAft>
                <a:spcPts val="0"/>
              </a:spcAft>
              <a:buNone/>
            </a:pPr>
            <a:r>
              <a:t/>
            </a:r>
            <a:endParaRPr/>
          </a:p>
        </p:txBody>
      </p:sp>
      <p:sp>
        <p:nvSpPr>
          <p:cNvPr id="84" name="Google Shape;84;p6"/>
          <p:cNvSpPr/>
          <p:nvPr/>
        </p:nvSpPr>
        <p:spPr>
          <a:xfrm>
            <a:off x="5585694" y="2194550"/>
            <a:ext cx="1617300" cy="68100"/>
          </a:xfrm>
          <a:prstGeom prst="rect">
            <a:avLst/>
          </a:prstGeom>
          <a:solidFill>
            <a:srgbClr val="10B981"/>
          </a:solidFill>
          <a:ln>
            <a:noFill/>
          </a:ln>
        </p:spPr>
        <p:txBody>
          <a:bodyPr anchorCtr="0" anchor="ctr" bIns="102325" lIns="102325" spcFirstLastPara="1" rIns="102325" wrap="square" tIns="102325">
            <a:noAutofit/>
          </a:bodyPr>
          <a:lstStyle/>
          <a:p>
            <a:pPr indent="0" lvl="0" marL="0" rtl="0" algn="l">
              <a:spcBef>
                <a:spcPts val="0"/>
              </a:spcBef>
              <a:spcAft>
                <a:spcPts val="0"/>
              </a:spcAft>
              <a:buNone/>
            </a:pPr>
            <a:r>
              <a:t/>
            </a:r>
            <a:endParaRPr/>
          </a:p>
        </p:txBody>
      </p:sp>
      <p:sp>
        <p:nvSpPr>
          <p:cNvPr id="85" name="Google Shape;85;p6"/>
          <p:cNvSpPr/>
          <p:nvPr/>
        </p:nvSpPr>
        <p:spPr>
          <a:xfrm>
            <a:off x="5688045" y="2347879"/>
            <a:ext cx="1412400" cy="2559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2D2D2D"/>
              </a:buClr>
              <a:buSzPts val="1343"/>
              <a:buFont typeface="Calibri"/>
              <a:buNone/>
            </a:pPr>
            <a:r>
              <a:rPr b="1" lang="en" sz="1343">
                <a:solidFill>
                  <a:srgbClr val="2D2D2D"/>
                </a:solidFill>
                <a:latin typeface="Calibri"/>
                <a:ea typeface="Calibri"/>
                <a:cs typeface="Calibri"/>
                <a:sym typeface="Calibri"/>
              </a:rPr>
              <a:t>Covariance &amp; Ensembles</a:t>
            </a:r>
            <a:endParaRPr b="0" i="0" sz="1343" u="none" cap="none" strike="noStrike">
              <a:solidFill>
                <a:schemeClr val="dk1"/>
              </a:solidFill>
              <a:latin typeface="Calibri"/>
              <a:ea typeface="Calibri"/>
              <a:cs typeface="Calibri"/>
              <a:sym typeface="Calibri"/>
            </a:endParaRPr>
          </a:p>
        </p:txBody>
      </p:sp>
      <p:sp>
        <p:nvSpPr>
          <p:cNvPr id="86" name="Google Shape;86;p6"/>
          <p:cNvSpPr/>
          <p:nvPr/>
        </p:nvSpPr>
        <p:spPr>
          <a:xfrm>
            <a:off x="5636850" y="2724176"/>
            <a:ext cx="1515000" cy="2130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10B981"/>
              </a:buClr>
              <a:buSzPts val="1007"/>
              <a:buFont typeface="Calibri"/>
              <a:buNone/>
            </a:pPr>
            <a:r>
              <a:rPr i="1" lang="en" sz="1007">
                <a:solidFill>
                  <a:srgbClr val="10B981"/>
                </a:solidFill>
                <a:latin typeface="Calibri"/>
                <a:ea typeface="Calibri"/>
                <a:cs typeface="Calibri"/>
                <a:sym typeface="Calibri"/>
              </a:rPr>
              <a:t>Ueda &amp; Nakano 1996 [4]</a:t>
            </a:r>
            <a:endParaRPr b="0" i="0" sz="1007" u="none" cap="none" strike="noStrike">
              <a:solidFill>
                <a:schemeClr val="dk1"/>
              </a:solidFill>
              <a:latin typeface="Calibri"/>
              <a:ea typeface="Calibri"/>
              <a:cs typeface="Calibri"/>
              <a:sym typeface="Calibri"/>
            </a:endParaRPr>
          </a:p>
        </p:txBody>
      </p:sp>
      <p:sp>
        <p:nvSpPr>
          <p:cNvPr id="87" name="Google Shape;87;p6"/>
          <p:cNvSpPr/>
          <p:nvPr/>
        </p:nvSpPr>
        <p:spPr>
          <a:xfrm>
            <a:off x="5688045" y="2941093"/>
            <a:ext cx="1412400" cy="5109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2D2D2D"/>
              </a:buClr>
              <a:buSzPts val="1007"/>
              <a:buFont typeface="Calibri"/>
              <a:buNone/>
            </a:pPr>
            <a:r>
              <a:rPr lang="en" sz="1007">
                <a:solidFill>
                  <a:srgbClr val="2D2D2D"/>
                </a:solidFill>
                <a:latin typeface="Calibri"/>
                <a:ea typeface="Calibri"/>
                <a:cs typeface="Calibri"/>
                <a:sym typeface="Calibri"/>
              </a:rPr>
              <a:t>Ensemble error depends on covariance between models</a:t>
            </a:r>
            <a:endParaRPr b="0" i="0" sz="1007" u="none" cap="none" strike="noStrike">
              <a:solidFill>
                <a:schemeClr val="dk1"/>
              </a:solidFill>
              <a:latin typeface="Calibri"/>
              <a:ea typeface="Calibri"/>
              <a:cs typeface="Calibri"/>
              <a:sym typeface="Calibri"/>
            </a:endParaRPr>
          </a:p>
        </p:txBody>
      </p:sp>
      <p:sp>
        <p:nvSpPr>
          <p:cNvPr id="88" name="Google Shape;88;p6"/>
          <p:cNvSpPr/>
          <p:nvPr/>
        </p:nvSpPr>
        <p:spPr>
          <a:xfrm>
            <a:off x="5688045" y="3512523"/>
            <a:ext cx="1412400" cy="4683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6B7280"/>
              </a:buClr>
              <a:buSzPts val="1007"/>
              <a:buFont typeface="Calibri"/>
              <a:buNone/>
            </a:pPr>
            <a:r>
              <a:rPr i="1" lang="en" sz="1007">
                <a:solidFill>
                  <a:srgbClr val="6B7280"/>
                </a:solidFill>
                <a:latin typeface="Calibri"/>
                <a:ea typeface="Calibri"/>
                <a:cs typeface="Calibri"/>
                <a:sym typeface="Calibri"/>
              </a:rPr>
              <a:t>✘ No empirical study of mixtures or optimal weighting</a:t>
            </a:r>
            <a:endParaRPr b="0" i="0" sz="1007" u="none" cap="none" strike="noStrike">
              <a:solidFill>
                <a:schemeClr val="dk1"/>
              </a:solidFill>
              <a:latin typeface="Calibri"/>
              <a:ea typeface="Calibri"/>
              <a:cs typeface="Calibri"/>
              <a:sym typeface="Calibri"/>
            </a:endParaRPr>
          </a:p>
        </p:txBody>
      </p:sp>
      <p:sp>
        <p:nvSpPr>
          <p:cNvPr id="89" name="Google Shape;89;p6"/>
          <p:cNvSpPr/>
          <p:nvPr/>
        </p:nvSpPr>
        <p:spPr>
          <a:xfrm>
            <a:off x="7223323" y="2961193"/>
            <a:ext cx="81900" cy="255900"/>
          </a:xfrm>
          <a:prstGeom prst="rect">
            <a:avLst/>
          </a:prstGeom>
          <a:noFill/>
          <a:ln>
            <a:noFill/>
          </a:ln>
        </p:spPr>
        <p:txBody>
          <a:bodyPr anchorCtr="0" anchor="ctr" bIns="51150" lIns="102325" spcFirstLastPara="1" rIns="102325" wrap="square" tIns="51150">
            <a:noAutofit/>
          </a:bodyPr>
          <a:lstStyle/>
          <a:p>
            <a:pPr indent="0" lvl="0" marL="0" marR="0" rtl="0" algn="ctr">
              <a:spcBef>
                <a:spcPts val="0"/>
              </a:spcBef>
              <a:spcAft>
                <a:spcPts val="0"/>
              </a:spcAft>
              <a:buClr>
                <a:srgbClr val="6B7280"/>
              </a:buClr>
              <a:buSzPts val="1567"/>
              <a:buFont typeface="Calibri"/>
              <a:buNone/>
            </a:pPr>
            <a:r>
              <a:rPr b="0" i="0" lang="en" sz="1567" u="none" cap="none" strike="noStrike">
                <a:solidFill>
                  <a:srgbClr val="6B7280"/>
                </a:solidFill>
                <a:latin typeface="Calibri"/>
                <a:ea typeface="Calibri"/>
                <a:cs typeface="Calibri"/>
                <a:sym typeface="Calibri"/>
              </a:rPr>
              <a:t>→</a:t>
            </a:r>
            <a:endParaRPr b="0" i="0" sz="1567" u="none" cap="none" strike="noStrike">
              <a:solidFill>
                <a:schemeClr val="dk1"/>
              </a:solidFill>
              <a:latin typeface="Calibri"/>
              <a:ea typeface="Calibri"/>
              <a:cs typeface="Calibri"/>
              <a:sym typeface="Calibri"/>
            </a:endParaRPr>
          </a:p>
        </p:txBody>
      </p:sp>
      <p:sp>
        <p:nvSpPr>
          <p:cNvPr id="90" name="Google Shape;90;p6"/>
          <p:cNvSpPr/>
          <p:nvPr/>
        </p:nvSpPr>
        <p:spPr>
          <a:xfrm>
            <a:off x="7325675" y="2194550"/>
            <a:ext cx="1617300" cy="1999800"/>
          </a:xfrm>
          <a:prstGeom prst="rect">
            <a:avLst/>
          </a:prstGeom>
          <a:solidFill>
            <a:srgbClr val="FFFFFF"/>
          </a:solidFill>
          <a:ln cap="flat" cmpd="sng" w="10650">
            <a:solidFill>
              <a:srgbClr val="E5E7EB"/>
            </a:solidFill>
            <a:prstDash val="solid"/>
            <a:round/>
            <a:headEnd len="sm" w="sm" type="none"/>
            <a:tailEnd len="sm" w="sm" type="none"/>
          </a:ln>
        </p:spPr>
        <p:txBody>
          <a:bodyPr anchorCtr="0" anchor="ctr" bIns="102325" lIns="102325" spcFirstLastPara="1" rIns="102325" wrap="square" tIns="102325">
            <a:noAutofit/>
          </a:bodyPr>
          <a:lstStyle/>
          <a:p>
            <a:pPr indent="0" lvl="0" marL="0" rtl="0" algn="l">
              <a:spcBef>
                <a:spcPts val="0"/>
              </a:spcBef>
              <a:spcAft>
                <a:spcPts val="0"/>
              </a:spcAft>
              <a:buNone/>
            </a:pPr>
            <a:r>
              <a:t/>
            </a:r>
            <a:endParaRPr/>
          </a:p>
        </p:txBody>
      </p:sp>
      <p:sp>
        <p:nvSpPr>
          <p:cNvPr id="91" name="Google Shape;91;p6"/>
          <p:cNvSpPr/>
          <p:nvPr/>
        </p:nvSpPr>
        <p:spPr>
          <a:xfrm>
            <a:off x="7325675" y="2194550"/>
            <a:ext cx="1617300" cy="68100"/>
          </a:xfrm>
          <a:prstGeom prst="rect">
            <a:avLst/>
          </a:prstGeom>
          <a:solidFill>
            <a:srgbClr val="10B981"/>
          </a:solidFill>
          <a:ln>
            <a:noFill/>
          </a:ln>
        </p:spPr>
        <p:txBody>
          <a:bodyPr anchorCtr="0" anchor="ctr" bIns="102325" lIns="102325" spcFirstLastPara="1" rIns="102325" wrap="square" tIns="102325">
            <a:noAutofit/>
          </a:bodyPr>
          <a:lstStyle/>
          <a:p>
            <a:pPr indent="0" lvl="0" marL="0" rtl="0" algn="l">
              <a:spcBef>
                <a:spcPts val="0"/>
              </a:spcBef>
              <a:spcAft>
                <a:spcPts val="0"/>
              </a:spcAft>
              <a:buNone/>
            </a:pPr>
            <a:r>
              <a:t/>
            </a:r>
            <a:endParaRPr/>
          </a:p>
        </p:txBody>
      </p:sp>
      <p:sp>
        <p:nvSpPr>
          <p:cNvPr id="92" name="Google Shape;92;p6"/>
          <p:cNvSpPr/>
          <p:nvPr/>
        </p:nvSpPr>
        <p:spPr>
          <a:xfrm>
            <a:off x="7428027" y="2347879"/>
            <a:ext cx="1412400" cy="2559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2D2D2D"/>
              </a:buClr>
              <a:buSzPts val="1343"/>
              <a:buFont typeface="Calibri"/>
              <a:buNone/>
            </a:pPr>
            <a:r>
              <a:rPr b="1" lang="en" sz="1343">
                <a:solidFill>
                  <a:srgbClr val="2D2D2D"/>
                </a:solidFill>
                <a:latin typeface="Calibri"/>
                <a:ea typeface="Calibri"/>
                <a:cs typeface="Calibri"/>
                <a:sym typeface="Calibri"/>
              </a:rPr>
              <a:t>Diversity &amp; Modern Theory</a:t>
            </a:r>
            <a:endParaRPr b="0" i="0" sz="1343" u="none" cap="none" strike="noStrike">
              <a:solidFill>
                <a:schemeClr val="dk1"/>
              </a:solidFill>
              <a:latin typeface="Calibri"/>
              <a:ea typeface="Calibri"/>
              <a:cs typeface="Calibri"/>
              <a:sym typeface="Calibri"/>
            </a:endParaRPr>
          </a:p>
        </p:txBody>
      </p:sp>
      <p:sp>
        <p:nvSpPr>
          <p:cNvPr id="93" name="Google Shape;93;p6"/>
          <p:cNvSpPr/>
          <p:nvPr/>
        </p:nvSpPr>
        <p:spPr>
          <a:xfrm>
            <a:off x="7428027" y="2743524"/>
            <a:ext cx="1412400" cy="2130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10B981"/>
              </a:buClr>
              <a:buSzPts val="1007"/>
              <a:buFont typeface="Calibri"/>
              <a:buNone/>
            </a:pPr>
            <a:r>
              <a:rPr i="1" lang="en" sz="1007">
                <a:solidFill>
                  <a:srgbClr val="10B981"/>
                </a:solidFill>
                <a:latin typeface="Calibri"/>
                <a:ea typeface="Calibri"/>
                <a:cs typeface="Calibri"/>
                <a:sym typeface="Calibri"/>
              </a:rPr>
              <a:t>Brown et al. (2005) [5], Wood et al. (2023) [6]</a:t>
            </a:r>
            <a:endParaRPr b="0" i="0" sz="1007" u="none" cap="none" strike="noStrike">
              <a:solidFill>
                <a:schemeClr val="dk1"/>
              </a:solidFill>
              <a:latin typeface="Calibri"/>
              <a:ea typeface="Calibri"/>
              <a:cs typeface="Calibri"/>
              <a:sym typeface="Calibri"/>
            </a:endParaRPr>
          </a:p>
        </p:txBody>
      </p:sp>
      <p:sp>
        <p:nvSpPr>
          <p:cNvPr id="94" name="Google Shape;94;p6"/>
          <p:cNvSpPr/>
          <p:nvPr/>
        </p:nvSpPr>
        <p:spPr>
          <a:xfrm>
            <a:off x="7428025" y="3065338"/>
            <a:ext cx="1515000" cy="5109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2D2D2D"/>
              </a:buClr>
              <a:buSzPts val="1007"/>
              <a:buFont typeface="Calibri"/>
              <a:buNone/>
            </a:pPr>
            <a:r>
              <a:rPr lang="en" sz="1007">
                <a:solidFill>
                  <a:srgbClr val="2D2D2D"/>
                </a:solidFill>
                <a:latin typeface="Calibri"/>
                <a:ea typeface="Calibri"/>
                <a:cs typeface="Calibri"/>
                <a:sym typeface="Calibri"/>
              </a:rPr>
              <a:t>Diversity ↔ variance reduction, unified perspective</a:t>
            </a:r>
            <a:endParaRPr b="0" i="0" sz="1007" u="none" cap="none" strike="noStrike">
              <a:solidFill>
                <a:schemeClr val="dk1"/>
              </a:solidFill>
              <a:latin typeface="Calibri"/>
              <a:ea typeface="Calibri"/>
              <a:cs typeface="Calibri"/>
              <a:sym typeface="Calibri"/>
            </a:endParaRPr>
          </a:p>
        </p:txBody>
      </p:sp>
      <p:sp>
        <p:nvSpPr>
          <p:cNvPr id="95" name="Google Shape;95;p6"/>
          <p:cNvSpPr/>
          <p:nvPr/>
        </p:nvSpPr>
        <p:spPr>
          <a:xfrm>
            <a:off x="7394950" y="3611917"/>
            <a:ext cx="1515000" cy="468300"/>
          </a:xfrm>
          <a:prstGeom prst="rect">
            <a:avLst/>
          </a:prstGeom>
          <a:noFill/>
          <a:ln>
            <a:noFill/>
          </a:ln>
        </p:spPr>
        <p:txBody>
          <a:bodyPr anchorCtr="0" anchor="ctr" bIns="51150" lIns="102325" spcFirstLastPara="1" rIns="102325" wrap="square" tIns="51150">
            <a:noAutofit/>
          </a:bodyPr>
          <a:lstStyle/>
          <a:p>
            <a:pPr indent="0" lvl="0" marL="0" marR="0" rtl="0" algn="l">
              <a:spcBef>
                <a:spcPts val="0"/>
              </a:spcBef>
              <a:spcAft>
                <a:spcPts val="0"/>
              </a:spcAft>
              <a:buClr>
                <a:srgbClr val="6B7280"/>
              </a:buClr>
              <a:buSzPts val="1007"/>
              <a:buFont typeface="Calibri"/>
              <a:buNone/>
            </a:pPr>
            <a:r>
              <a:rPr i="1" lang="en" sz="1007">
                <a:solidFill>
                  <a:srgbClr val="6B7280"/>
                </a:solidFill>
                <a:latin typeface="Calibri"/>
                <a:ea typeface="Calibri"/>
                <a:cs typeface="Calibri"/>
                <a:sym typeface="Calibri"/>
              </a:rPr>
              <a:t>✘ No study of when diversity fails (noise regimes) </a:t>
            </a:r>
            <a:endParaRPr i="1" sz="1007">
              <a:solidFill>
                <a:srgbClr val="6B7280"/>
              </a:solidFill>
              <a:latin typeface="Calibri"/>
              <a:ea typeface="Calibri"/>
              <a:cs typeface="Calibri"/>
              <a:sym typeface="Calibri"/>
            </a:endParaRPr>
          </a:p>
        </p:txBody>
      </p:sp>
      <p:sp>
        <p:nvSpPr>
          <p:cNvPr id="96" name="Google Shape;96;p6"/>
          <p:cNvSpPr txBox="1"/>
          <p:nvPr/>
        </p:nvSpPr>
        <p:spPr>
          <a:xfrm>
            <a:off x="365750" y="4194300"/>
            <a:ext cx="8577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i="1" lang="en" sz="800">
                <a:solidFill>
                  <a:srgbClr val="3B82F6"/>
                </a:solidFill>
                <a:latin typeface="Calibri"/>
                <a:ea typeface="Calibri"/>
                <a:cs typeface="Calibri"/>
                <a:sym typeface="Calibri"/>
              </a:rPr>
              <a:t>[1] Geman, S., Bienenstock, E., &amp; Doursat, R. (1992). Neural networks and the bias/variance dilemma. Neural computation, 4(1), 1-58.</a:t>
            </a:r>
            <a:endParaRPr i="1" sz="800">
              <a:solidFill>
                <a:srgbClr val="3B82F6"/>
              </a:solidFill>
              <a:latin typeface="Calibri"/>
              <a:ea typeface="Calibri"/>
              <a:cs typeface="Calibri"/>
              <a:sym typeface="Calibri"/>
            </a:endParaRPr>
          </a:p>
          <a:p>
            <a:pPr indent="0" lvl="0" marL="0" rtl="0" algn="l">
              <a:spcBef>
                <a:spcPts val="0"/>
              </a:spcBef>
              <a:spcAft>
                <a:spcPts val="0"/>
              </a:spcAft>
              <a:buNone/>
            </a:pPr>
            <a:r>
              <a:rPr i="1" lang="en" sz="800">
                <a:solidFill>
                  <a:srgbClr val="3B82F6"/>
                </a:solidFill>
                <a:latin typeface="Calibri"/>
                <a:ea typeface="Calibri"/>
                <a:cs typeface="Calibri"/>
                <a:sym typeface="Calibri"/>
              </a:rPr>
              <a:t>[2] Breiman, L. (1996). Bagging predictors. Machine learning, 24(2), 123-140.</a:t>
            </a:r>
            <a:endParaRPr i="1" sz="800">
              <a:solidFill>
                <a:srgbClr val="3B82F6"/>
              </a:solidFill>
              <a:latin typeface="Calibri"/>
              <a:ea typeface="Calibri"/>
              <a:cs typeface="Calibri"/>
              <a:sym typeface="Calibri"/>
            </a:endParaRPr>
          </a:p>
          <a:p>
            <a:pPr indent="0" lvl="0" marL="0" rtl="0" algn="l">
              <a:spcBef>
                <a:spcPts val="0"/>
              </a:spcBef>
              <a:spcAft>
                <a:spcPts val="0"/>
              </a:spcAft>
              <a:buNone/>
            </a:pPr>
            <a:r>
              <a:rPr i="1" lang="en" sz="800">
                <a:solidFill>
                  <a:srgbClr val="EF4444"/>
                </a:solidFill>
                <a:latin typeface="Calibri"/>
                <a:ea typeface="Calibri"/>
                <a:cs typeface="Calibri"/>
                <a:sym typeface="Calibri"/>
              </a:rPr>
              <a:t>[3] Friedman, J. H. (2001). Greedy function approximation: a gradient boosting machine. Annals of statistics, 1189-1232.</a:t>
            </a:r>
            <a:endParaRPr sz="800">
              <a:solidFill>
                <a:schemeClr val="dk1"/>
              </a:solidFill>
              <a:latin typeface="Calibri"/>
              <a:ea typeface="Calibri"/>
              <a:cs typeface="Calibri"/>
              <a:sym typeface="Calibri"/>
            </a:endParaRPr>
          </a:p>
          <a:p>
            <a:pPr indent="0" lvl="0" marL="0" rtl="0" algn="l">
              <a:spcBef>
                <a:spcPts val="0"/>
              </a:spcBef>
              <a:spcAft>
                <a:spcPts val="0"/>
              </a:spcAft>
              <a:buNone/>
            </a:pPr>
            <a:r>
              <a:rPr i="1" lang="en" sz="800">
                <a:solidFill>
                  <a:srgbClr val="10B981"/>
                </a:solidFill>
                <a:latin typeface="Calibri"/>
                <a:ea typeface="Calibri"/>
                <a:cs typeface="Calibri"/>
                <a:sym typeface="Calibri"/>
              </a:rPr>
              <a:t>[4] Ueda, N., &amp; Nakano, R. (1996, June). Generalization error of ensemble estimators. In Proceedings of International Conference on Neural Networks (ICNN'96) (Vol. 1, pp. 90-95). IEEE.</a:t>
            </a:r>
            <a:endParaRPr i="1" sz="800">
              <a:solidFill>
                <a:srgbClr val="10B981"/>
              </a:solidFill>
              <a:latin typeface="Calibri"/>
              <a:ea typeface="Calibri"/>
              <a:cs typeface="Calibri"/>
              <a:sym typeface="Calibri"/>
            </a:endParaRPr>
          </a:p>
          <a:p>
            <a:pPr indent="0" lvl="0" marL="0" rtl="0" algn="l">
              <a:spcBef>
                <a:spcPts val="0"/>
              </a:spcBef>
              <a:spcAft>
                <a:spcPts val="0"/>
              </a:spcAft>
              <a:buClr>
                <a:srgbClr val="10B981"/>
              </a:buClr>
              <a:buSzPts val="1007"/>
              <a:buFont typeface="Calibri"/>
              <a:buNone/>
            </a:pPr>
            <a:r>
              <a:rPr i="1" lang="en" sz="800">
                <a:solidFill>
                  <a:srgbClr val="10B981"/>
                </a:solidFill>
                <a:latin typeface="Calibri"/>
                <a:ea typeface="Calibri"/>
                <a:cs typeface="Calibri"/>
                <a:sym typeface="Calibri"/>
              </a:rPr>
              <a:t>[5] Brown, G., Wyatt, J. L., Tino, P. (2005). Managing diversity in regression ensembles. Journal of machine learning research, 6(9).</a:t>
            </a:r>
            <a:endParaRPr i="1" sz="800">
              <a:solidFill>
                <a:srgbClr val="10B981"/>
              </a:solidFill>
              <a:latin typeface="Calibri"/>
              <a:ea typeface="Calibri"/>
              <a:cs typeface="Calibri"/>
              <a:sym typeface="Calibri"/>
            </a:endParaRPr>
          </a:p>
          <a:p>
            <a:pPr indent="0" lvl="0" marL="0" rtl="0" algn="l">
              <a:spcBef>
                <a:spcPts val="0"/>
              </a:spcBef>
              <a:spcAft>
                <a:spcPts val="0"/>
              </a:spcAft>
              <a:buNone/>
            </a:pPr>
            <a:r>
              <a:rPr i="1" lang="en" sz="800">
                <a:solidFill>
                  <a:srgbClr val="10B981"/>
                </a:solidFill>
                <a:latin typeface="Calibri"/>
                <a:ea typeface="Calibri"/>
                <a:cs typeface="Calibri"/>
                <a:sym typeface="Calibri"/>
              </a:rPr>
              <a:t>[6] Wood, D., Mu, T., Webb, A. M., Reeve, H. W., Lujan, M., &amp; Brown, G. (2023). A unified theory of diversity in ensemble learning. Journal of machine learning research, 24(359), 1-49.</a:t>
            </a:r>
            <a:endParaRPr i="1" sz="800">
              <a:solidFill>
                <a:srgbClr val="3B82F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01" name="Shape 101"/>
        <p:cNvGrpSpPr/>
        <p:nvPr/>
      </p:nvGrpSpPr>
      <p:grpSpPr>
        <a:xfrm>
          <a:off x="0" y="0"/>
          <a:ext cx="0" cy="0"/>
          <a:chOff x="0" y="0"/>
          <a:chExt cx="0" cy="0"/>
        </a:xfrm>
      </p:grpSpPr>
      <p:sp>
        <p:nvSpPr>
          <p:cNvPr id="102" name="Google Shape;102;p7"/>
          <p:cNvSpPr/>
          <p:nvPr/>
        </p:nvSpPr>
        <p:spPr>
          <a:xfrm>
            <a:off x="548640" y="365760"/>
            <a:ext cx="3474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800"/>
              <a:buFont typeface="Georgia"/>
              <a:buNone/>
            </a:pPr>
            <a:r>
              <a:rPr b="1" lang="en" sz="1800">
                <a:solidFill>
                  <a:srgbClr val="2D2D2D"/>
                </a:solidFill>
                <a:latin typeface="Georgia"/>
                <a:ea typeface="Georgia"/>
                <a:cs typeface="Georgia"/>
                <a:sym typeface="Georgia"/>
              </a:rPr>
              <a:t>Approach</a:t>
            </a:r>
            <a:endParaRPr b="0" i="0" sz="1800" u="none" cap="none" strike="noStrike">
              <a:solidFill>
                <a:schemeClr val="dk1"/>
              </a:solidFill>
              <a:latin typeface="Calibri"/>
              <a:ea typeface="Calibri"/>
              <a:cs typeface="Calibri"/>
              <a:sym typeface="Calibri"/>
            </a:endParaRPr>
          </a:p>
        </p:txBody>
      </p:sp>
      <p:sp>
        <p:nvSpPr>
          <p:cNvPr id="103" name="Google Shape;103;p7"/>
          <p:cNvSpPr/>
          <p:nvPr/>
        </p:nvSpPr>
        <p:spPr>
          <a:xfrm>
            <a:off x="412200" y="822950"/>
            <a:ext cx="4159800" cy="3903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Framework</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Regression under squared loss → exact bias-variance decomposition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Empirical estimation via repeated bootstrap resampling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Each configuration = one point in Bias²–Variance space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Varying certain parameters would trace a trajectory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Methods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Bagging</a:t>
            </a:r>
            <a:r>
              <a:rPr lang="en" sz="1100">
                <a:solidFill>
                  <a:schemeClr val="dk1"/>
                </a:solidFill>
              </a:rPr>
              <a:t>: Random Forest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Boosting</a:t>
            </a:r>
            <a:r>
              <a:rPr lang="en" sz="1100">
                <a:solidFill>
                  <a:schemeClr val="dk1"/>
                </a:solidFill>
              </a:rPr>
              <a:t>: XGBoost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Hybrids</a:t>
            </a:r>
            <a:r>
              <a:rPr lang="en" sz="1100">
                <a:solidFill>
                  <a:schemeClr val="dk1"/>
                </a:solidFill>
              </a:rPr>
              <a:t>:</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i="1" lang="en" sz="1100">
                <a:solidFill>
                  <a:schemeClr val="dk1"/>
                </a:solidFill>
              </a:rPr>
              <a:t>Architectural</a:t>
            </a:r>
            <a:r>
              <a:rPr lang="en" sz="1100">
                <a:solidFill>
                  <a:schemeClr val="dk1"/>
                </a:solidFill>
              </a:rPr>
              <a:t>: BaggingRegressor wrapping XGBoost</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i="1" lang="en" sz="1100">
                <a:solidFill>
                  <a:schemeClr val="dk1"/>
                </a:solidFill>
              </a:rPr>
              <a:t>Convex combination</a:t>
            </a:r>
            <a:r>
              <a:rPr lang="en" sz="1100">
                <a:solidFill>
                  <a:schemeClr val="dk1"/>
                </a:solidFill>
              </a:rPr>
              <a:t>: f</a:t>
            </a:r>
            <a:r>
              <a:rPr baseline="-25000" lang="en" sz="1100">
                <a:solidFill>
                  <a:schemeClr val="dk1"/>
                </a:solidFill>
              </a:rPr>
              <a:t>λ</a:t>
            </a:r>
            <a:r>
              <a:rPr lang="en" sz="1100">
                <a:solidFill>
                  <a:schemeClr val="dk1"/>
                </a:solidFill>
              </a:rPr>
              <a:t> = λ·f</a:t>
            </a:r>
            <a:r>
              <a:rPr baseline="-25000" lang="en" sz="1100">
                <a:solidFill>
                  <a:schemeClr val="dk1"/>
                </a:solidFill>
              </a:rPr>
              <a:t>boost</a:t>
            </a:r>
            <a:r>
              <a:rPr lang="en" sz="1100">
                <a:solidFill>
                  <a:schemeClr val="dk1"/>
                </a:solidFill>
              </a:rPr>
              <a:t> + (1−λ)·f</a:t>
            </a:r>
            <a:r>
              <a:rPr baseline="-25000" lang="en" sz="1100">
                <a:solidFill>
                  <a:schemeClr val="dk1"/>
                </a:solidFill>
              </a:rPr>
              <a:t>bag</a:t>
            </a:r>
            <a:endParaRPr sz="1200">
              <a:solidFill>
                <a:srgbClr val="2D2D2D"/>
              </a:solidFill>
              <a:latin typeface="Calibri"/>
              <a:ea typeface="Calibri"/>
              <a:cs typeface="Calibri"/>
              <a:sym typeface="Calibri"/>
            </a:endParaRPr>
          </a:p>
        </p:txBody>
      </p:sp>
      <p:pic>
        <p:nvPicPr>
          <p:cNvPr id="104" name="Google Shape;104;p7"/>
          <p:cNvPicPr preferRelativeResize="0"/>
          <p:nvPr/>
        </p:nvPicPr>
        <p:blipFill rotWithShape="1">
          <a:blip r:embed="rId3">
            <a:alphaModFix/>
          </a:blip>
          <a:srcRect b="0" l="0" r="0" t="2762"/>
          <a:stretch/>
        </p:blipFill>
        <p:spPr>
          <a:xfrm>
            <a:off x="4494775" y="1142675"/>
            <a:ext cx="4297876" cy="30176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09" name="Shape 109"/>
        <p:cNvGrpSpPr/>
        <p:nvPr/>
      </p:nvGrpSpPr>
      <p:grpSpPr>
        <a:xfrm>
          <a:off x="0" y="0"/>
          <a:ext cx="0" cy="0"/>
          <a:chOff x="0" y="0"/>
          <a:chExt cx="0" cy="0"/>
        </a:xfrm>
      </p:grpSpPr>
      <p:sp>
        <p:nvSpPr>
          <p:cNvPr id="110" name="Google Shape;110;p8"/>
          <p:cNvSpPr/>
          <p:nvPr/>
        </p:nvSpPr>
        <p:spPr>
          <a:xfrm>
            <a:off x="548640" y="365760"/>
            <a:ext cx="8046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800"/>
              <a:buFont typeface="Georgia"/>
              <a:buNone/>
            </a:pPr>
            <a:r>
              <a:rPr b="1" i="0" lang="en" sz="1800" u="none" cap="none" strike="noStrike">
                <a:solidFill>
                  <a:srgbClr val="2D2D2D"/>
                </a:solidFill>
                <a:latin typeface="Georgia"/>
                <a:ea typeface="Georgia"/>
                <a:cs typeface="Georgia"/>
                <a:sym typeface="Georgia"/>
              </a:rPr>
              <a:t>Experiments &amp; Datasets</a:t>
            </a:r>
            <a:endParaRPr b="0" i="0" sz="1800" u="none" cap="none" strike="noStrike">
              <a:solidFill>
                <a:schemeClr val="dk1"/>
              </a:solidFill>
              <a:latin typeface="Calibri"/>
              <a:ea typeface="Calibri"/>
              <a:cs typeface="Calibri"/>
              <a:sym typeface="Calibri"/>
            </a:endParaRPr>
          </a:p>
        </p:txBody>
      </p:sp>
      <p:sp>
        <p:nvSpPr>
          <p:cNvPr id="111" name="Google Shape;111;p8"/>
          <p:cNvSpPr/>
          <p:nvPr/>
        </p:nvSpPr>
        <p:spPr>
          <a:xfrm>
            <a:off x="548640" y="868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00"/>
              <a:buFont typeface="Calibri"/>
              <a:buNone/>
            </a:pPr>
            <a:r>
              <a:rPr b="1" i="0" lang="en" sz="1300" u="none" cap="none" strike="noStrike">
                <a:solidFill>
                  <a:srgbClr val="6B7280"/>
                </a:solidFill>
                <a:latin typeface="Calibri"/>
                <a:ea typeface="Calibri"/>
                <a:cs typeface="Calibri"/>
                <a:sym typeface="Calibri"/>
              </a:rPr>
              <a:t>What we vary</a:t>
            </a:r>
            <a:endParaRPr b="0" i="0" sz="1300" u="none" cap="none" strike="noStrike">
              <a:solidFill>
                <a:schemeClr val="dk1"/>
              </a:solidFill>
              <a:latin typeface="Calibri"/>
              <a:ea typeface="Calibri"/>
              <a:cs typeface="Calibri"/>
              <a:sym typeface="Calibri"/>
            </a:endParaRPr>
          </a:p>
        </p:txBody>
      </p:sp>
      <p:sp>
        <p:nvSpPr>
          <p:cNvPr id="112" name="Google Shape;112;p8"/>
          <p:cNvSpPr/>
          <p:nvPr/>
        </p:nvSpPr>
        <p:spPr>
          <a:xfrm>
            <a:off x="548640" y="1234440"/>
            <a:ext cx="1920240" cy="54864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8"/>
          <p:cNvSpPr/>
          <p:nvPr/>
        </p:nvSpPr>
        <p:spPr>
          <a:xfrm>
            <a:off x="548640" y="1234440"/>
            <a:ext cx="19202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D2D2D"/>
              </a:buClr>
              <a:buSzPts val="1100"/>
              <a:buFont typeface="Calibri"/>
              <a:buNone/>
            </a:pPr>
            <a:r>
              <a:rPr b="0" i="0" lang="en" sz="1100" u="none" cap="none" strike="noStrike">
                <a:solidFill>
                  <a:srgbClr val="2D2D2D"/>
                </a:solidFill>
                <a:latin typeface="Calibri"/>
                <a:ea typeface="Calibri"/>
                <a:cs typeface="Calibri"/>
                <a:sym typeface="Calibri"/>
              </a:rPr>
              <a:t>Dataset noise level</a:t>
            </a:r>
            <a:endParaRPr b="0" i="0" sz="1100" u="none" cap="none" strike="noStrike">
              <a:solidFill>
                <a:schemeClr val="dk1"/>
              </a:solidFill>
              <a:latin typeface="Calibri"/>
              <a:ea typeface="Calibri"/>
              <a:cs typeface="Calibri"/>
              <a:sym typeface="Calibri"/>
            </a:endParaRPr>
          </a:p>
        </p:txBody>
      </p:sp>
      <p:sp>
        <p:nvSpPr>
          <p:cNvPr id="114" name="Google Shape;114;p8"/>
          <p:cNvSpPr/>
          <p:nvPr/>
        </p:nvSpPr>
        <p:spPr>
          <a:xfrm>
            <a:off x="2651760" y="1234440"/>
            <a:ext cx="1920240" cy="54864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2651760" y="1234440"/>
            <a:ext cx="19202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D2D2D"/>
              </a:buClr>
              <a:buSzPts val="1100"/>
              <a:buFont typeface="Calibri"/>
              <a:buNone/>
            </a:pPr>
            <a:r>
              <a:rPr b="0" i="0" lang="en" sz="1100" u="none" cap="none" strike="noStrike">
                <a:solidFill>
                  <a:srgbClr val="2D2D2D"/>
                </a:solidFill>
                <a:latin typeface="Calibri"/>
                <a:ea typeface="Calibri"/>
                <a:cs typeface="Calibri"/>
                <a:sym typeface="Calibri"/>
              </a:rPr>
              <a:t>Training set size</a:t>
            </a:r>
            <a:endParaRPr b="0" i="0" sz="1100" u="none" cap="none" strike="noStrike">
              <a:solidFill>
                <a:schemeClr val="dk1"/>
              </a:solidFill>
              <a:latin typeface="Calibri"/>
              <a:ea typeface="Calibri"/>
              <a:cs typeface="Calibri"/>
              <a:sym typeface="Calibri"/>
            </a:endParaRPr>
          </a:p>
        </p:txBody>
      </p:sp>
      <p:sp>
        <p:nvSpPr>
          <p:cNvPr id="116" name="Google Shape;116;p8"/>
          <p:cNvSpPr/>
          <p:nvPr/>
        </p:nvSpPr>
        <p:spPr>
          <a:xfrm>
            <a:off x="4754880" y="1234440"/>
            <a:ext cx="1920240" cy="54864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a:off x="4754880" y="1234440"/>
            <a:ext cx="19202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D2D2D"/>
              </a:buClr>
              <a:buSzPts val="1100"/>
              <a:buFont typeface="Calibri"/>
              <a:buNone/>
            </a:pPr>
            <a:r>
              <a:rPr b="0" i="0" lang="en" sz="1100" u="none" cap="none" strike="noStrike">
                <a:solidFill>
                  <a:srgbClr val="2D2D2D"/>
                </a:solidFill>
                <a:latin typeface="Calibri"/>
                <a:ea typeface="Calibri"/>
                <a:cs typeface="Calibri"/>
                <a:sym typeface="Calibri"/>
              </a:rPr>
              <a:t>Base learner complexity</a:t>
            </a:r>
            <a:endParaRPr b="0" i="0" sz="1100" u="none" cap="none" strike="noStrike">
              <a:solidFill>
                <a:schemeClr val="dk1"/>
              </a:solidFill>
              <a:latin typeface="Calibri"/>
              <a:ea typeface="Calibri"/>
              <a:cs typeface="Calibri"/>
              <a:sym typeface="Calibri"/>
            </a:endParaRPr>
          </a:p>
        </p:txBody>
      </p:sp>
      <p:sp>
        <p:nvSpPr>
          <p:cNvPr id="118" name="Google Shape;118;p8"/>
          <p:cNvSpPr/>
          <p:nvPr/>
        </p:nvSpPr>
        <p:spPr>
          <a:xfrm>
            <a:off x="6858000" y="1234440"/>
            <a:ext cx="1920240" cy="54864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
          <p:cNvSpPr/>
          <p:nvPr/>
        </p:nvSpPr>
        <p:spPr>
          <a:xfrm>
            <a:off x="6858000" y="1234440"/>
            <a:ext cx="19202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D2D2D"/>
              </a:buClr>
              <a:buSzPts val="1100"/>
              <a:buFont typeface="Calibri"/>
              <a:buNone/>
            </a:pPr>
            <a:r>
              <a:rPr b="0" i="0" lang="en" sz="1100" u="none" cap="none" strike="noStrike">
                <a:solidFill>
                  <a:srgbClr val="2D2D2D"/>
                </a:solidFill>
                <a:latin typeface="Calibri"/>
                <a:ea typeface="Calibri"/>
                <a:cs typeface="Calibri"/>
                <a:sym typeface="Calibri"/>
              </a:rPr>
              <a:t>Ensemble size</a:t>
            </a:r>
            <a:endParaRPr b="0" i="0" sz="1100" u="none" cap="none" strike="noStrike">
              <a:solidFill>
                <a:schemeClr val="dk1"/>
              </a:solidFill>
              <a:latin typeface="Calibri"/>
              <a:ea typeface="Calibri"/>
              <a:cs typeface="Calibri"/>
              <a:sym typeface="Calibri"/>
            </a:endParaRPr>
          </a:p>
        </p:txBody>
      </p:sp>
      <p:sp>
        <p:nvSpPr>
          <p:cNvPr id="120" name="Google Shape;120;p8"/>
          <p:cNvSpPr/>
          <p:nvPr/>
        </p:nvSpPr>
        <p:spPr>
          <a:xfrm>
            <a:off x="548640" y="196596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00"/>
              <a:buFont typeface="Calibri"/>
              <a:buNone/>
            </a:pPr>
            <a:r>
              <a:rPr b="1" i="0" lang="en" sz="1300" u="none" cap="none" strike="noStrike">
                <a:solidFill>
                  <a:srgbClr val="6B7280"/>
                </a:solidFill>
                <a:latin typeface="Calibri"/>
                <a:ea typeface="Calibri"/>
                <a:cs typeface="Calibri"/>
                <a:sym typeface="Calibri"/>
              </a:rPr>
              <a:t>What we measure</a:t>
            </a:r>
            <a:endParaRPr b="0" i="0" sz="1300" u="none" cap="none" strike="noStrike">
              <a:solidFill>
                <a:schemeClr val="dk1"/>
              </a:solidFill>
              <a:latin typeface="Calibri"/>
              <a:ea typeface="Calibri"/>
              <a:cs typeface="Calibri"/>
              <a:sym typeface="Calibri"/>
            </a:endParaRPr>
          </a:p>
        </p:txBody>
      </p:sp>
      <p:sp>
        <p:nvSpPr>
          <p:cNvPr id="121" name="Google Shape;121;p8"/>
          <p:cNvSpPr/>
          <p:nvPr/>
        </p:nvSpPr>
        <p:spPr>
          <a:xfrm>
            <a:off x="548640" y="2423160"/>
            <a:ext cx="91440" cy="91440"/>
          </a:xfrm>
          <a:prstGeom prst="ellipse">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a:off x="777240" y="2331720"/>
            <a:ext cx="7772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200"/>
              <a:buFont typeface="Calibri"/>
              <a:buNone/>
            </a:pPr>
            <a:r>
              <a:rPr b="0" i="0" lang="en" sz="1200" u="none" cap="none" strike="noStrike">
                <a:solidFill>
                  <a:srgbClr val="2D2D2D"/>
                </a:solidFill>
                <a:latin typeface="Calibri"/>
                <a:ea typeface="Calibri"/>
                <a:cs typeface="Calibri"/>
                <a:sym typeface="Calibri"/>
              </a:rPr>
              <a:t>Bias² and Variance trajectories</a:t>
            </a:r>
            <a:endParaRPr b="0" i="0" sz="1200" u="none" cap="none" strike="noStrike">
              <a:solidFill>
                <a:schemeClr val="dk1"/>
              </a:solidFill>
              <a:latin typeface="Calibri"/>
              <a:ea typeface="Calibri"/>
              <a:cs typeface="Calibri"/>
              <a:sym typeface="Calibri"/>
            </a:endParaRPr>
          </a:p>
        </p:txBody>
      </p:sp>
      <p:sp>
        <p:nvSpPr>
          <p:cNvPr id="123" name="Google Shape;123;p8"/>
          <p:cNvSpPr/>
          <p:nvPr/>
        </p:nvSpPr>
        <p:spPr>
          <a:xfrm>
            <a:off x="548640" y="2788920"/>
            <a:ext cx="91440" cy="91440"/>
          </a:xfrm>
          <a:prstGeom prst="ellipse">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777240" y="2697480"/>
            <a:ext cx="7772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200"/>
              <a:buFont typeface="Calibri"/>
              <a:buNone/>
            </a:pPr>
            <a:r>
              <a:rPr b="0" i="0" lang="en" sz="1200" u="none" cap="none" strike="noStrike">
                <a:solidFill>
                  <a:srgbClr val="2D2D2D"/>
                </a:solidFill>
                <a:latin typeface="Calibri"/>
                <a:ea typeface="Calibri"/>
                <a:cs typeface="Calibri"/>
                <a:sym typeface="Calibri"/>
              </a:rPr>
              <a:t>Diversity = individual var − ensemble var</a:t>
            </a:r>
            <a:endParaRPr b="0" i="0" sz="1200" u="none" cap="none" strike="noStrike">
              <a:solidFill>
                <a:schemeClr val="dk1"/>
              </a:solidFill>
              <a:latin typeface="Calibri"/>
              <a:ea typeface="Calibri"/>
              <a:cs typeface="Calibri"/>
              <a:sym typeface="Calibri"/>
            </a:endParaRPr>
          </a:p>
        </p:txBody>
      </p:sp>
      <p:sp>
        <p:nvSpPr>
          <p:cNvPr id="125" name="Google Shape;125;p8"/>
          <p:cNvSpPr/>
          <p:nvPr/>
        </p:nvSpPr>
        <p:spPr>
          <a:xfrm>
            <a:off x="548640" y="3154680"/>
            <a:ext cx="91440" cy="91440"/>
          </a:xfrm>
          <a:prstGeom prst="ellipse">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p:nvPr/>
        </p:nvSpPr>
        <p:spPr>
          <a:xfrm>
            <a:off x="777240" y="3063240"/>
            <a:ext cx="7772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200"/>
              <a:buFont typeface="Calibri"/>
              <a:buNone/>
            </a:pPr>
            <a:r>
              <a:rPr b="0" i="0" lang="en" sz="1200" u="none" cap="none" strike="noStrike">
                <a:solidFill>
                  <a:srgbClr val="2D2D2D"/>
                </a:solidFill>
                <a:latin typeface="Calibri"/>
                <a:ea typeface="Calibri"/>
                <a:cs typeface="Calibri"/>
                <a:sym typeface="Calibri"/>
              </a:rPr>
              <a:t>Covariance between parents → predicts hybrid</a:t>
            </a:r>
            <a:endParaRPr b="0" i="0" sz="1200" u="none" cap="none" strike="noStrike">
              <a:solidFill>
                <a:schemeClr val="dk1"/>
              </a:solidFill>
              <a:latin typeface="Calibri"/>
              <a:ea typeface="Calibri"/>
              <a:cs typeface="Calibri"/>
              <a:sym typeface="Calibri"/>
            </a:endParaRPr>
          </a:p>
        </p:txBody>
      </p:sp>
      <p:sp>
        <p:nvSpPr>
          <p:cNvPr id="127" name="Google Shape;127;p8"/>
          <p:cNvSpPr/>
          <p:nvPr/>
        </p:nvSpPr>
        <p:spPr>
          <a:xfrm>
            <a:off x="548640" y="342900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00"/>
              <a:buFont typeface="Calibri"/>
              <a:buNone/>
            </a:pPr>
            <a:r>
              <a:rPr b="1" i="0" lang="en" sz="1300" u="none" cap="none" strike="noStrike">
                <a:solidFill>
                  <a:srgbClr val="6B7280"/>
                </a:solidFill>
                <a:latin typeface="Calibri"/>
                <a:ea typeface="Calibri"/>
                <a:cs typeface="Calibri"/>
                <a:sym typeface="Calibri"/>
              </a:rPr>
              <a:t>Datasets</a:t>
            </a:r>
            <a:endParaRPr b="0" i="0" sz="1300" u="none" cap="none" strike="noStrike">
              <a:solidFill>
                <a:schemeClr val="dk1"/>
              </a:solidFill>
              <a:latin typeface="Calibri"/>
              <a:ea typeface="Calibri"/>
              <a:cs typeface="Calibri"/>
              <a:sym typeface="Calibri"/>
            </a:endParaRPr>
          </a:p>
        </p:txBody>
      </p:sp>
      <p:sp>
        <p:nvSpPr>
          <p:cNvPr id="128" name="Google Shape;128;p8"/>
          <p:cNvSpPr/>
          <p:nvPr/>
        </p:nvSpPr>
        <p:spPr>
          <a:xfrm>
            <a:off x="548640" y="3794760"/>
            <a:ext cx="3840480" cy="82296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p:nvPr/>
        </p:nvSpPr>
        <p:spPr>
          <a:xfrm>
            <a:off x="548640" y="3794760"/>
            <a:ext cx="73152" cy="822960"/>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777240" y="3840480"/>
            <a:ext cx="34747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200"/>
              <a:buFont typeface="Calibri"/>
              <a:buNone/>
            </a:pPr>
            <a:r>
              <a:rPr b="1" i="0" lang="en" sz="1200" u="none" cap="none" strike="noStrike">
                <a:solidFill>
                  <a:srgbClr val="2D2D2D"/>
                </a:solidFill>
                <a:latin typeface="Calibri"/>
                <a:ea typeface="Calibri"/>
                <a:cs typeface="Calibri"/>
                <a:sym typeface="Calibri"/>
              </a:rPr>
              <a:t>Synthetic</a:t>
            </a:r>
            <a:endParaRPr b="0" i="0" sz="1200" u="none" cap="none" strike="noStrike">
              <a:solidFill>
                <a:schemeClr val="dk1"/>
              </a:solidFill>
              <a:latin typeface="Calibri"/>
              <a:ea typeface="Calibri"/>
              <a:cs typeface="Calibri"/>
              <a:sym typeface="Calibri"/>
            </a:endParaRPr>
          </a:p>
        </p:txBody>
      </p:sp>
      <p:sp>
        <p:nvSpPr>
          <p:cNvPr id="131" name="Google Shape;131;p8"/>
          <p:cNvSpPr/>
          <p:nvPr/>
        </p:nvSpPr>
        <p:spPr>
          <a:xfrm>
            <a:off x="777240" y="4114800"/>
            <a:ext cx="34747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000"/>
              <a:buFont typeface="Calibri"/>
              <a:buNone/>
            </a:pPr>
            <a:r>
              <a:rPr b="0" i="0" lang="en" sz="1000" u="none" cap="none" strike="noStrike">
                <a:solidFill>
                  <a:srgbClr val="6B7280"/>
                </a:solidFill>
                <a:latin typeface="Calibri"/>
                <a:ea typeface="Calibri"/>
                <a:cs typeface="Calibri"/>
                <a:sym typeface="Calibri"/>
              </a:rPr>
              <a:t>make_regression + sinusoidal — controlled, theory-comparable</a:t>
            </a:r>
            <a:endParaRPr b="0" i="0" sz="1000" u="none" cap="none" strike="noStrike">
              <a:solidFill>
                <a:schemeClr val="dk1"/>
              </a:solidFill>
              <a:latin typeface="Calibri"/>
              <a:ea typeface="Calibri"/>
              <a:cs typeface="Calibri"/>
              <a:sym typeface="Calibri"/>
            </a:endParaRPr>
          </a:p>
        </p:txBody>
      </p:sp>
      <p:sp>
        <p:nvSpPr>
          <p:cNvPr id="132" name="Google Shape;132;p8"/>
          <p:cNvSpPr/>
          <p:nvPr/>
        </p:nvSpPr>
        <p:spPr>
          <a:xfrm>
            <a:off x="4572000" y="3794760"/>
            <a:ext cx="4023360" cy="822960"/>
          </a:xfrm>
          <a:prstGeom prst="rect">
            <a:avLst/>
          </a:prstGeom>
          <a:solidFill>
            <a:srgbClr val="FFFFFF"/>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p:nvPr/>
        </p:nvSpPr>
        <p:spPr>
          <a:xfrm>
            <a:off x="4572000" y="3794760"/>
            <a:ext cx="73152" cy="82296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4800600" y="3840480"/>
            <a:ext cx="3657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200"/>
              <a:buFont typeface="Calibri"/>
              <a:buNone/>
            </a:pPr>
            <a:r>
              <a:rPr b="1" i="0" lang="en" sz="1200" u="none" cap="none" strike="noStrike">
                <a:solidFill>
                  <a:srgbClr val="2D2D2D"/>
                </a:solidFill>
                <a:latin typeface="Calibri"/>
                <a:ea typeface="Calibri"/>
                <a:cs typeface="Calibri"/>
                <a:sym typeface="Calibri"/>
              </a:rPr>
              <a:t>California Housing</a:t>
            </a:r>
            <a:endParaRPr b="0" i="0" sz="1200" u="none" cap="none" strike="noStrike">
              <a:solidFill>
                <a:schemeClr val="dk1"/>
              </a:solidFill>
              <a:latin typeface="Calibri"/>
              <a:ea typeface="Calibri"/>
              <a:cs typeface="Calibri"/>
              <a:sym typeface="Calibri"/>
            </a:endParaRPr>
          </a:p>
        </p:txBody>
      </p:sp>
      <p:sp>
        <p:nvSpPr>
          <p:cNvPr id="135" name="Google Shape;135;p8"/>
          <p:cNvSpPr/>
          <p:nvPr/>
        </p:nvSpPr>
        <p:spPr>
          <a:xfrm>
            <a:off x="4800600" y="4114800"/>
            <a:ext cx="3657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000"/>
              <a:buFont typeface="Calibri"/>
              <a:buNone/>
            </a:pPr>
            <a:r>
              <a:rPr b="0" i="0" lang="en" sz="1000" u="none" cap="none" strike="noStrike">
                <a:solidFill>
                  <a:srgbClr val="6B7280"/>
                </a:solidFill>
                <a:latin typeface="Calibri"/>
                <a:ea typeface="Calibri"/>
                <a:cs typeface="Calibri"/>
                <a:sym typeface="Calibri"/>
              </a:rPr>
              <a:t>~20k samples — real noise, real interactions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40" name="Shape 140"/>
        <p:cNvGrpSpPr/>
        <p:nvPr/>
      </p:nvGrpSpPr>
      <p:grpSpPr>
        <a:xfrm>
          <a:off x="0" y="0"/>
          <a:ext cx="0" cy="0"/>
          <a:chOff x="0" y="0"/>
          <a:chExt cx="0" cy="0"/>
        </a:xfrm>
      </p:grpSpPr>
      <p:sp>
        <p:nvSpPr>
          <p:cNvPr id="141" name="Google Shape;141;p9"/>
          <p:cNvSpPr/>
          <p:nvPr/>
        </p:nvSpPr>
        <p:spPr>
          <a:xfrm>
            <a:off x="365760" y="228600"/>
            <a:ext cx="8229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2000"/>
              <a:buFont typeface="Georgia"/>
              <a:buNone/>
            </a:pPr>
            <a:r>
              <a:rPr b="1" i="0" lang="en" sz="2000" u="none" cap="none" strike="noStrike">
                <a:solidFill>
                  <a:srgbClr val="2D2D2D"/>
                </a:solidFill>
                <a:latin typeface="Georgia"/>
                <a:ea typeface="Georgia"/>
                <a:cs typeface="Georgia"/>
                <a:sym typeface="Georgia"/>
              </a:rPr>
              <a:t>Plan &amp; Milestones</a:t>
            </a:r>
            <a:endParaRPr b="0" i="0" sz="2000" u="none" cap="none" strike="noStrike">
              <a:solidFill>
                <a:schemeClr val="dk1"/>
              </a:solidFill>
              <a:latin typeface="Calibri"/>
              <a:ea typeface="Calibri"/>
              <a:cs typeface="Calibri"/>
              <a:sym typeface="Calibri"/>
            </a:endParaRPr>
          </a:p>
        </p:txBody>
      </p:sp>
      <p:sp>
        <p:nvSpPr>
          <p:cNvPr id="142" name="Google Shape;142;p9"/>
          <p:cNvSpPr/>
          <p:nvPr/>
        </p:nvSpPr>
        <p:spPr>
          <a:xfrm>
            <a:off x="365760" y="731520"/>
            <a:ext cx="5577840" cy="365760"/>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9"/>
          <p:cNvSpPr/>
          <p:nvPr/>
        </p:nvSpPr>
        <p:spPr>
          <a:xfrm>
            <a:off x="365760" y="731520"/>
            <a:ext cx="55778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Before Pre-Final Check-in</a:t>
            </a:r>
            <a:endParaRPr b="0" i="0" sz="1200" u="none" cap="none" strike="noStrike">
              <a:solidFill>
                <a:schemeClr val="dk1"/>
              </a:solidFill>
              <a:latin typeface="Calibri"/>
              <a:ea typeface="Calibri"/>
              <a:cs typeface="Calibri"/>
              <a:sym typeface="Calibri"/>
            </a:endParaRPr>
          </a:p>
        </p:txBody>
      </p:sp>
      <p:sp>
        <p:nvSpPr>
          <p:cNvPr id="144" name="Google Shape;144;p9"/>
          <p:cNvSpPr/>
          <p:nvPr/>
        </p:nvSpPr>
        <p:spPr>
          <a:xfrm>
            <a:off x="365760" y="1097280"/>
            <a:ext cx="5577840" cy="379476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9"/>
          <p:cNvSpPr/>
          <p:nvPr/>
        </p:nvSpPr>
        <p:spPr>
          <a:xfrm>
            <a:off x="502920" y="1188720"/>
            <a:ext cx="5303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B82F6"/>
              </a:buClr>
              <a:buSzPts val="1100"/>
              <a:buFont typeface="Calibri"/>
              <a:buNone/>
            </a:pPr>
            <a:r>
              <a:rPr b="1" i="0" lang="en" sz="1100" u="none" cap="none" strike="noStrike">
                <a:solidFill>
                  <a:srgbClr val="3B82F6"/>
                </a:solidFill>
                <a:latin typeface="Calibri"/>
                <a:ea typeface="Calibri"/>
                <a:cs typeface="Calibri"/>
                <a:sym typeface="Calibri"/>
              </a:rPr>
              <a:t>1. Bias–Variance–Covariance Estimation</a:t>
            </a:r>
            <a:endParaRPr b="0" i="0" sz="1100" u="none" cap="none" strike="noStrike">
              <a:solidFill>
                <a:schemeClr val="dk1"/>
              </a:solidFill>
              <a:latin typeface="Calibri"/>
              <a:ea typeface="Calibri"/>
              <a:cs typeface="Calibri"/>
              <a:sym typeface="Calibri"/>
            </a:endParaRPr>
          </a:p>
        </p:txBody>
      </p:sp>
      <p:sp>
        <p:nvSpPr>
          <p:cNvPr id="146" name="Google Shape;146;p9"/>
          <p:cNvSpPr/>
          <p:nvPr/>
        </p:nvSpPr>
        <p:spPr>
          <a:xfrm>
            <a:off x="502920" y="1417320"/>
            <a:ext cx="5303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000"/>
              <a:buFont typeface="Calibri"/>
              <a:buNone/>
            </a:pPr>
            <a:r>
              <a:rPr b="0" i="0" lang="en" sz="1000" u="none" cap="none" strike="noStrike">
                <a:solidFill>
                  <a:srgbClr val="2D2D2D"/>
                </a:solidFill>
                <a:latin typeface="Calibri"/>
                <a:ea typeface="Calibri"/>
                <a:cs typeface="Calibri"/>
                <a:sym typeface="Calibri"/>
              </a:rPr>
              <a:t>Bootstrap resampling (M ≈ 50) → estimate Bias², Variance, Cov(f_bag, f_boost)</a:t>
            </a:r>
            <a:endParaRPr b="0" i="0" sz="1000" u="none" cap="none" strike="noStrike">
              <a:solidFill>
                <a:schemeClr val="dk1"/>
              </a:solidFill>
              <a:latin typeface="Calibri"/>
              <a:ea typeface="Calibri"/>
              <a:cs typeface="Calibri"/>
              <a:sym typeface="Calibri"/>
            </a:endParaRPr>
          </a:p>
        </p:txBody>
      </p:sp>
      <p:sp>
        <p:nvSpPr>
          <p:cNvPr id="147" name="Google Shape;147;p9"/>
          <p:cNvSpPr/>
          <p:nvPr/>
        </p:nvSpPr>
        <p:spPr>
          <a:xfrm>
            <a:off x="502920" y="1737360"/>
            <a:ext cx="5303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B82F6"/>
              </a:buClr>
              <a:buSzPts val="1100"/>
              <a:buFont typeface="Calibri"/>
              <a:buNone/>
            </a:pPr>
            <a:r>
              <a:rPr b="1" i="0" lang="en" sz="1100" u="none" cap="none" strike="noStrike">
                <a:solidFill>
                  <a:srgbClr val="3B82F6"/>
                </a:solidFill>
                <a:latin typeface="Calibri"/>
                <a:ea typeface="Calibri"/>
                <a:cs typeface="Calibri"/>
                <a:sym typeface="Calibri"/>
              </a:rPr>
              <a:t>2. Synthetic Experiments</a:t>
            </a:r>
            <a:endParaRPr b="0" i="0" sz="1100" u="none" cap="none" strike="noStrike">
              <a:solidFill>
                <a:schemeClr val="dk1"/>
              </a:solidFill>
              <a:latin typeface="Calibri"/>
              <a:ea typeface="Calibri"/>
              <a:cs typeface="Calibri"/>
              <a:sym typeface="Calibri"/>
            </a:endParaRPr>
          </a:p>
        </p:txBody>
      </p:sp>
      <p:sp>
        <p:nvSpPr>
          <p:cNvPr id="148" name="Google Shape;148;p9"/>
          <p:cNvSpPr/>
          <p:nvPr/>
        </p:nvSpPr>
        <p:spPr>
          <a:xfrm>
            <a:off x="502920" y="1965960"/>
            <a:ext cx="5303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000"/>
              <a:buFont typeface="Calibri"/>
              <a:buNone/>
            </a:pPr>
            <a:r>
              <a:rPr b="0" i="0" lang="en" sz="1000" u="none" cap="none" strike="noStrike">
                <a:solidFill>
                  <a:srgbClr val="2D2D2D"/>
                </a:solidFill>
                <a:latin typeface="Calibri"/>
                <a:ea typeface="Calibri"/>
                <a:cs typeface="Calibri"/>
                <a:sym typeface="Calibri"/>
              </a:rPr>
              <a:t>Vary: noise level · training size · model complexity · ensemble size</a:t>
            </a:r>
            <a:endParaRPr b="0" i="0" sz="1000" u="none" cap="none" strike="noStrike">
              <a:solidFill>
                <a:schemeClr val="dk1"/>
              </a:solidFill>
              <a:latin typeface="Calibri"/>
              <a:ea typeface="Calibri"/>
              <a:cs typeface="Calibri"/>
              <a:sym typeface="Calibri"/>
            </a:endParaRPr>
          </a:p>
        </p:txBody>
      </p:sp>
      <p:sp>
        <p:nvSpPr>
          <p:cNvPr id="149" name="Google Shape;149;p9"/>
          <p:cNvSpPr/>
          <p:nvPr/>
        </p:nvSpPr>
        <p:spPr>
          <a:xfrm>
            <a:off x="502920" y="2286000"/>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B82F6"/>
              </a:buClr>
              <a:buSzPts val="1100"/>
              <a:buFont typeface="Calibri"/>
              <a:buNone/>
            </a:pPr>
            <a:r>
              <a:rPr b="1" i="0" lang="en" sz="1100" u="none" cap="none" strike="noStrike">
                <a:solidFill>
                  <a:srgbClr val="3B82F6"/>
                </a:solidFill>
                <a:latin typeface="Calibri"/>
                <a:ea typeface="Calibri"/>
                <a:cs typeface="Calibri"/>
                <a:sym typeface="Calibri"/>
              </a:rPr>
              <a:t>3. Trajectory Atlas</a:t>
            </a:r>
            <a:endParaRPr b="0" i="0" sz="1100" u="none" cap="none" strike="noStrike">
              <a:solidFill>
                <a:schemeClr val="dk1"/>
              </a:solidFill>
              <a:latin typeface="Calibri"/>
              <a:ea typeface="Calibri"/>
              <a:cs typeface="Calibri"/>
              <a:sym typeface="Calibri"/>
            </a:endParaRPr>
          </a:p>
        </p:txBody>
      </p:sp>
      <p:sp>
        <p:nvSpPr>
          <p:cNvPr id="150" name="Google Shape;150;p9"/>
          <p:cNvSpPr/>
          <p:nvPr/>
        </p:nvSpPr>
        <p:spPr>
          <a:xfrm>
            <a:off x="1783080" y="2286000"/>
            <a:ext cx="1371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00"/>
              <a:buFont typeface="Calibri"/>
              <a:buNone/>
            </a:pPr>
            <a:r>
              <a:rPr b="0" i="1" lang="en" sz="900" u="none" cap="none" strike="noStrike">
                <a:solidFill>
                  <a:srgbClr val="6B7280"/>
                </a:solidFill>
                <a:latin typeface="Calibri"/>
                <a:ea typeface="Calibri"/>
                <a:cs typeface="Calibri"/>
                <a:sym typeface="Calibri"/>
              </a:rPr>
              <a:t>(core contribution)</a:t>
            </a:r>
            <a:endParaRPr b="0" i="0" sz="900" u="none" cap="none" strike="noStrike">
              <a:solidFill>
                <a:schemeClr val="dk1"/>
              </a:solidFill>
              <a:latin typeface="Calibri"/>
              <a:ea typeface="Calibri"/>
              <a:cs typeface="Calibri"/>
              <a:sym typeface="Calibri"/>
            </a:endParaRPr>
          </a:p>
        </p:txBody>
      </p:sp>
      <p:sp>
        <p:nvSpPr>
          <p:cNvPr id="151" name="Google Shape;151;p9"/>
          <p:cNvSpPr/>
          <p:nvPr/>
        </p:nvSpPr>
        <p:spPr>
          <a:xfrm>
            <a:off x="502920" y="2514600"/>
            <a:ext cx="5303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000"/>
              <a:buFont typeface="Calibri"/>
              <a:buNone/>
            </a:pPr>
            <a:r>
              <a:rPr b="0" i="0" lang="en" sz="1000" u="none" cap="none" strike="noStrike">
                <a:solidFill>
                  <a:srgbClr val="2D2D2D"/>
                </a:solidFill>
                <a:latin typeface="Calibri"/>
                <a:ea typeface="Calibri"/>
                <a:cs typeface="Calibri"/>
                <a:sym typeface="Calibri"/>
              </a:rPr>
              <a:t>Map Bias²–Variance trajectories for RF, XGBoost, and hybrid models</a:t>
            </a:r>
            <a:endParaRPr b="0" i="0" sz="1000" u="none" cap="none" strike="noStrike">
              <a:solidFill>
                <a:schemeClr val="dk1"/>
              </a:solidFill>
              <a:latin typeface="Calibri"/>
              <a:ea typeface="Calibri"/>
              <a:cs typeface="Calibri"/>
              <a:sym typeface="Calibri"/>
            </a:endParaRPr>
          </a:p>
        </p:txBody>
      </p:sp>
      <p:sp>
        <p:nvSpPr>
          <p:cNvPr id="152" name="Google Shape;152;p9"/>
          <p:cNvSpPr/>
          <p:nvPr/>
        </p:nvSpPr>
        <p:spPr>
          <a:xfrm>
            <a:off x="502920" y="2834640"/>
            <a:ext cx="5303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B82F6"/>
              </a:buClr>
              <a:buSzPts val="1100"/>
              <a:buFont typeface="Calibri"/>
              <a:buNone/>
            </a:pPr>
            <a:r>
              <a:rPr b="1" i="0" lang="en" sz="1100" u="none" cap="none" strike="noStrike">
                <a:solidFill>
                  <a:srgbClr val="3B82F6"/>
                </a:solidFill>
                <a:latin typeface="Calibri"/>
                <a:ea typeface="Calibri"/>
                <a:cs typeface="Calibri"/>
                <a:sym typeface="Calibri"/>
              </a:rPr>
              <a:t>4. Convex Mixture Analysis</a:t>
            </a:r>
            <a:endParaRPr b="0" i="0" sz="1100" u="none" cap="none" strike="noStrike">
              <a:solidFill>
                <a:schemeClr val="dk1"/>
              </a:solidFill>
              <a:latin typeface="Calibri"/>
              <a:ea typeface="Calibri"/>
              <a:cs typeface="Calibri"/>
              <a:sym typeface="Calibri"/>
            </a:endParaRPr>
          </a:p>
        </p:txBody>
      </p:sp>
      <p:sp>
        <p:nvSpPr>
          <p:cNvPr id="153" name="Google Shape;153;p9"/>
          <p:cNvSpPr/>
          <p:nvPr/>
        </p:nvSpPr>
        <p:spPr>
          <a:xfrm>
            <a:off x="502920" y="3090672"/>
            <a:ext cx="2377440" cy="320040"/>
          </a:xfrm>
          <a:prstGeom prst="rect">
            <a:avLst/>
          </a:prstGeom>
          <a:solidFill>
            <a:srgbClr val="EFF6FF"/>
          </a:solidFill>
          <a:ln cap="flat" cmpd="sng" w="9525">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
          <p:cNvSpPr/>
          <p:nvPr/>
        </p:nvSpPr>
        <p:spPr>
          <a:xfrm>
            <a:off x="548640" y="3108960"/>
            <a:ext cx="2286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D2D2D"/>
              </a:buClr>
              <a:buSzPts val="1000"/>
              <a:buFont typeface="Calibri"/>
              <a:buNone/>
            </a:pPr>
            <a:r>
              <a:rPr b="0" i="0" lang="en" sz="1000" u="none" cap="none" strike="noStrike">
                <a:solidFill>
                  <a:srgbClr val="2D2D2D"/>
                </a:solidFill>
                <a:latin typeface="Calibri"/>
                <a:ea typeface="Calibri"/>
                <a:cs typeface="Calibri"/>
                <a:sym typeface="Calibri"/>
              </a:rPr>
              <a:t>f_λ = λ·f_boost + (1−λ)·f_bag</a:t>
            </a:r>
            <a:endParaRPr b="0" i="0" sz="1000" u="none" cap="none" strike="noStrike">
              <a:solidFill>
                <a:schemeClr val="dk1"/>
              </a:solidFill>
              <a:latin typeface="Calibri"/>
              <a:ea typeface="Calibri"/>
              <a:cs typeface="Calibri"/>
              <a:sym typeface="Calibri"/>
            </a:endParaRPr>
          </a:p>
        </p:txBody>
      </p:sp>
      <p:sp>
        <p:nvSpPr>
          <p:cNvPr id="155" name="Google Shape;155;p9"/>
          <p:cNvSpPr/>
          <p:nvPr/>
        </p:nvSpPr>
        <p:spPr>
          <a:xfrm>
            <a:off x="3017520" y="310896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Theory: derive λ* from Bias, Var, Cov</a:t>
            </a:r>
            <a:endParaRPr b="0" i="0" sz="900" u="none" cap="none" strike="noStrike">
              <a:solidFill>
                <a:schemeClr val="dk1"/>
              </a:solidFill>
              <a:latin typeface="Calibri"/>
              <a:ea typeface="Calibri"/>
              <a:cs typeface="Calibri"/>
              <a:sym typeface="Calibri"/>
            </a:endParaRPr>
          </a:p>
        </p:txBody>
      </p:sp>
      <p:sp>
        <p:nvSpPr>
          <p:cNvPr id="156" name="Google Shape;156;p9"/>
          <p:cNvSpPr/>
          <p:nvPr/>
        </p:nvSpPr>
        <p:spPr>
          <a:xfrm>
            <a:off x="3017520" y="329184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Empirics: sweep λ ∈ [0,1], compare predicted vs actual λ*</a:t>
            </a:r>
            <a:endParaRPr b="0" i="0" sz="900" u="none" cap="none" strike="noStrike">
              <a:solidFill>
                <a:schemeClr val="dk1"/>
              </a:solidFill>
              <a:latin typeface="Calibri"/>
              <a:ea typeface="Calibri"/>
              <a:cs typeface="Calibri"/>
              <a:sym typeface="Calibri"/>
            </a:endParaRPr>
          </a:p>
        </p:txBody>
      </p:sp>
      <p:sp>
        <p:nvSpPr>
          <p:cNvPr id="157" name="Google Shape;157;p9"/>
          <p:cNvSpPr/>
          <p:nvPr/>
        </p:nvSpPr>
        <p:spPr>
          <a:xfrm>
            <a:off x="502920" y="3611880"/>
            <a:ext cx="5303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B82F6"/>
              </a:buClr>
              <a:buSzPts val="1100"/>
              <a:buFont typeface="Calibri"/>
              <a:buNone/>
            </a:pPr>
            <a:r>
              <a:rPr b="1" i="0" lang="en" sz="1100" u="none" cap="none" strike="noStrike">
                <a:solidFill>
                  <a:srgbClr val="3B82F6"/>
                </a:solidFill>
                <a:latin typeface="Calibri"/>
                <a:ea typeface="Calibri"/>
                <a:cs typeface="Calibri"/>
                <a:sym typeface="Calibri"/>
              </a:rPr>
              <a:t>5. Diversity &amp; Covariance Analysis</a:t>
            </a:r>
            <a:endParaRPr b="0" i="0" sz="1100" u="none" cap="none" strike="noStrike">
              <a:solidFill>
                <a:schemeClr val="dk1"/>
              </a:solidFill>
              <a:latin typeface="Calibri"/>
              <a:ea typeface="Calibri"/>
              <a:cs typeface="Calibri"/>
              <a:sym typeface="Calibri"/>
            </a:endParaRPr>
          </a:p>
        </p:txBody>
      </p:sp>
      <p:sp>
        <p:nvSpPr>
          <p:cNvPr id="158" name="Google Shape;158;p9"/>
          <p:cNvSpPr/>
          <p:nvPr/>
        </p:nvSpPr>
        <p:spPr>
          <a:xfrm>
            <a:off x="502920" y="3840480"/>
            <a:ext cx="5303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000"/>
              <a:buFont typeface="Calibri"/>
              <a:buNone/>
            </a:pPr>
            <a:r>
              <a:rPr b="0" i="0" lang="en" sz="1000" u="none" cap="none" strike="noStrike">
                <a:solidFill>
                  <a:srgbClr val="2D2D2D"/>
                </a:solidFill>
                <a:latin typeface="Calibri"/>
                <a:ea typeface="Calibri"/>
                <a:cs typeface="Calibri"/>
                <a:sym typeface="Calibri"/>
              </a:rPr>
              <a:t>• Does Cov(f_bag, f_boost) predict hybrid gains?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D2D2D"/>
              </a:buClr>
              <a:buSzPts val="1000"/>
              <a:buFont typeface="Calibri"/>
              <a:buNone/>
            </a:pPr>
            <a:r>
              <a:rPr b="0" i="0" lang="en" sz="1000" u="none" cap="none" strike="noStrike">
                <a:solidFill>
                  <a:srgbClr val="2D2D2D"/>
                </a:solidFill>
                <a:latin typeface="Calibri"/>
                <a:ea typeface="Calibri"/>
                <a:cs typeface="Calibri"/>
                <a:sym typeface="Calibri"/>
              </a:rPr>
              <a:t>• When does diversity fail under noise?</a:t>
            </a:r>
            <a:endParaRPr b="0" i="0" sz="1000" u="none" cap="none" strike="noStrike">
              <a:solidFill>
                <a:schemeClr val="dk1"/>
              </a:solidFill>
              <a:latin typeface="Calibri"/>
              <a:ea typeface="Calibri"/>
              <a:cs typeface="Calibri"/>
              <a:sym typeface="Calibri"/>
            </a:endParaRPr>
          </a:p>
        </p:txBody>
      </p:sp>
      <p:sp>
        <p:nvSpPr>
          <p:cNvPr id="159" name="Google Shape;159;p9"/>
          <p:cNvSpPr/>
          <p:nvPr/>
        </p:nvSpPr>
        <p:spPr>
          <a:xfrm>
            <a:off x="502920" y="4343400"/>
            <a:ext cx="5303520" cy="457200"/>
          </a:xfrm>
          <a:prstGeom prst="rect">
            <a:avLst/>
          </a:prstGeom>
          <a:solidFill>
            <a:srgbClr val="EFF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594360" y="4389120"/>
            <a:ext cx="51206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B82F6"/>
              </a:buClr>
              <a:buSzPts val="1000"/>
              <a:buFont typeface="Calibri"/>
              <a:buNone/>
            </a:pPr>
            <a:r>
              <a:rPr b="1" i="0" lang="en" sz="1000" u="none" cap="none" strike="noStrike">
                <a:solidFill>
                  <a:srgbClr val="3B82F6"/>
                </a:solidFill>
                <a:latin typeface="Calibri"/>
                <a:ea typeface="Calibri"/>
                <a:cs typeface="Calibri"/>
                <a:sym typeface="Calibri"/>
              </a:rPr>
              <a:t>Key question: When does combining models outperform both parents?</a:t>
            </a:r>
            <a:endParaRPr b="0" i="0" sz="1000" u="none" cap="none" strike="noStrike">
              <a:solidFill>
                <a:schemeClr val="dk1"/>
              </a:solidFill>
              <a:latin typeface="Calibri"/>
              <a:ea typeface="Calibri"/>
              <a:cs typeface="Calibri"/>
              <a:sym typeface="Calibri"/>
            </a:endParaRPr>
          </a:p>
        </p:txBody>
      </p:sp>
      <p:sp>
        <p:nvSpPr>
          <p:cNvPr id="161" name="Google Shape;161;p9"/>
          <p:cNvSpPr/>
          <p:nvPr/>
        </p:nvSpPr>
        <p:spPr>
          <a:xfrm>
            <a:off x="6126480" y="731520"/>
            <a:ext cx="2743200" cy="365760"/>
          </a:xfrm>
          <a:prstGeom prst="rect">
            <a:avLst/>
          </a:prstGeom>
          <a:solidFill>
            <a:srgbClr val="1A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6126480" y="731520"/>
            <a:ext cx="27432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Before Final Submission</a:t>
            </a:r>
            <a:endParaRPr b="0" i="0" sz="1100" u="none" cap="none" strike="noStrike">
              <a:solidFill>
                <a:schemeClr val="dk1"/>
              </a:solidFill>
              <a:latin typeface="Calibri"/>
              <a:ea typeface="Calibri"/>
              <a:cs typeface="Calibri"/>
              <a:sym typeface="Calibri"/>
            </a:endParaRPr>
          </a:p>
        </p:txBody>
      </p:sp>
      <p:sp>
        <p:nvSpPr>
          <p:cNvPr id="163" name="Google Shape;163;p9"/>
          <p:cNvSpPr/>
          <p:nvPr/>
        </p:nvSpPr>
        <p:spPr>
          <a:xfrm>
            <a:off x="6126480" y="1097280"/>
            <a:ext cx="2743200" cy="379476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9"/>
          <p:cNvSpPr/>
          <p:nvPr/>
        </p:nvSpPr>
        <p:spPr>
          <a:xfrm>
            <a:off x="6236208" y="1234440"/>
            <a:ext cx="252374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100"/>
              <a:buFont typeface="Calibri"/>
              <a:buNone/>
            </a:pPr>
            <a:r>
              <a:rPr b="1" i="0" lang="en" sz="1100" u="none" cap="none" strike="noStrike">
                <a:solidFill>
                  <a:srgbClr val="1A1A2E"/>
                </a:solidFill>
                <a:latin typeface="Calibri"/>
                <a:ea typeface="Calibri"/>
                <a:cs typeface="Calibri"/>
                <a:sym typeface="Calibri"/>
              </a:rPr>
              <a:t>Real-Data Validation</a:t>
            </a:r>
            <a:endParaRPr b="0" i="0" sz="1100" u="none" cap="none" strike="noStrike">
              <a:solidFill>
                <a:schemeClr val="dk1"/>
              </a:solidFill>
              <a:latin typeface="Calibri"/>
              <a:ea typeface="Calibri"/>
              <a:cs typeface="Calibri"/>
              <a:sym typeface="Calibri"/>
            </a:endParaRPr>
          </a:p>
        </p:txBody>
      </p:sp>
      <p:sp>
        <p:nvSpPr>
          <p:cNvPr id="165" name="Google Shape;165;p9"/>
          <p:cNvSpPr/>
          <p:nvPr/>
        </p:nvSpPr>
        <p:spPr>
          <a:xfrm>
            <a:off x="6236208" y="1463040"/>
            <a:ext cx="2523744"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000"/>
              <a:buFont typeface="Calibri"/>
              <a:buNone/>
            </a:pPr>
            <a:r>
              <a:rPr b="0" i="0" lang="en" sz="1000" u="none" cap="none" strike="noStrike">
                <a:solidFill>
                  <a:srgbClr val="2D2D2D"/>
                </a:solidFill>
                <a:latin typeface="Calibri"/>
                <a:ea typeface="Calibri"/>
                <a:cs typeface="Calibri"/>
                <a:sym typeface="Calibri"/>
              </a:rPr>
              <a:t>California Housing dataset</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D2D2D"/>
              </a:buClr>
              <a:buSzPts val="1000"/>
              <a:buFont typeface="Calibri"/>
              <a:buNone/>
            </a:pPr>
            <a:r>
              <a:rPr b="0" i="0" lang="en" sz="1000" u="none" cap="none" strike="noStrike">
                <a:solidFill>
                  <a:srgbClr val="2D2D2D"/>
                </a:solidFill>
                <a:latin typeface="Calibri"/>
                <a:ea typeface="Calibri"/>
                <a:cs typeface="Calibri"/>
                <a:sym typeface="Calibri"/>
              </a:rPr>
              <a:t>Test pattern generalization</a:t>
            </a:r>
            <a:endParaRPr b="0" i="0" sz="1000" u="none" cap="none" strike="noStrike">
              <a:solidFill>
                <a:schemeClr val="dk1"/>
              </a:solidFill>
              <a:latin typeface="Calibri"/>
              <a:ea typeface="Calibri"/>
              <a:cs typeface="Calibri"/>
              <a:sym typeface="Calibri"/>
            </a:endParaRPr>
          </a:p>
        </p:txBody>
      </p:sp>
      <p:cxnSp>
        <p:nvCxnSpPr>
          <p:cNvPr id="166" name="Google Shape;166;p9"/>
          <p:cNvCxnSpPr/>
          <p:nvPr/>
        </p:nvCxnSpPr>
        <p:spPr>
          <a:xfrm>
            <a:off x="6236208" y="2011680"/>
            <a:ext cx="2523744" cy="0"/>
          </a:xfrm>
          <a:prstGeom prst="straightConnector1">
            <a:avLst/>
          </a:prstGeom>
          <a:noFill/>
          <a:ln cap="flat" cmpd="sng" w="9525">
            <a:solidFill>
              <a:srgbClr val="E5E7EB"/>
            </a:solidFill>
            <a:prstDash val="solid"/>
            <a:round/>
            <a:headEnd len="sm" w="sm" type="none"/>
            <a:tailEnd len="sm" w="sm" type="none"/>
          </a:ln>
        </p:spPr>
      </p:cxnSp>
      <p:sp>
        <p:nvSpPr>
          <p:cNvPr id="167" name="Google Shape;167;p9"/>
          <p:cNvSpPr/>
          <p:nvPr/>
        </p:nvSpPr>
        <p:spPr>
          <a:xfrm>
            <a:off x="6236208" y="2148840"/>
            <a:ext cx="252374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100"/>
              <a:buFont typeface="Calibri"/>
              <a:buNone/>
            </a:pPr>
            <a:r>
              <a:rPr b="1" i="0" lang="en" sz="1100" u="none" cap="none" strike="noStrike">
                <a:solidFill>
                  <a:srgbClr val="1A1A2E"/>
                </a:solidFill>
                <a:latin typeface="Calibri"/>
                <a:ea typeface="Calibri"/>
                <a:cs typeface="Calibri"/>
                <a:sym typeface="Calibri"/>
              </a:rPr>
              <a:t>Synthesis of Insights</a:t>
            </a:r>
            <a:endParaRPr b="0" i="0" sz="1100" u="none" cap="none" strike="noStrike">
              <a:solidFill>
                <a:schemeClr val="dk1"/>
              </a:solidFill>
              <a:latin typeface="Calibri"/>
              <a:ea typeface="Calibri"/>
              <a:cs typeface="Calibri"/>
              <a:sym typeface="Calibri"/>
            </a:endParaRPr>
          </a:p>
        </p:txBody>
      </p:sp>
      <p:sp>
        <p:nvSpPr>
          <p:cNvPr id="168" name="Google Shape;168;p9"/>
          <p:cNvSpPr/>
          <p:nvPr/>
        </p:nvSpPr>
        <p:spPr>
          <a:xfrm>
            <a:off x="6236208" y="2377440"/>
            <a:ext cx="2523744"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000"/>
              <a:buFont typeface="Calibri"/>
              <a:buNone/>
            </a:pPr>
            <a:r>
              <a:rPr b="0" i="0" lang="en" sz="1000" u="none" cap="none" strike="noStrike">
                <a:solidFill>
                  <a:srgbClr val="2D2D2D"/>
                </a:solidFill>
                <a:latin typeface="Calibri"/>
                <a:ea typeface="Calibri"/>
                <a:cs typeface="Calibri"/>
                <a:sym typeface="Calibri"/>
              </a:rPr>
              <a:t>• Bias vs variance improvements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D2D2D"/>
              </a:buClr>
              <a:buSzPts val="1000"/>
              <a:buFont typeface="Calibri"/>
              <a:buNone/>
            </a:pPr>
            <a:r>
              <a:rPr b="0" i="0" lang="en" sz="1000" u="none" cap="none" strike="noStrike">
                <a:solidFill>
                  <a:srgbClr val="2D2D2D"/>
                </a:solidFill>
                <a:latin typeface="Calibri"/>
                <a:ea typeface="Calibri"/>
                <a:cs typeface="Calibri"/>
                <a:sym typeface="Calibri"/>
              </a:rPr>
              <a:t>• When hybrids outperform</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D2D2D"/>
              </a:buClr>
              <a:buSzPts val="1000"/>
              <a:buFont typeface="Calibri"/>
              <a:buNone/>
            </a:pPr>
            <a:r>
              <a:rPr b="0" i="0" lang="en" sz="1000" u="none" cap="none" strike="noStrike">
                <a:solidFill>
                  <a:srgbClr val="2D2D2D"/>
                </a:solidFill>
                <a:latin typeface="Calibri"/>
                <a:ea typeface="Calibri"/>
                <a:cs typeface="Calibri"/>
                <a:sym typeface="Calibri"/>
              </a:rPr>
              <a:t>• When diversity misleads</a:t>
            </a:r>
            <a:endParaRPr b="0" i="0" sz="1000" u="none" cap="none" strike="noStrike">
              <a:solidFill>
                <a:schemeClr val="dk1"/>
              </a:solidFill>
              <a:latin typeface="Calibri"/>
              <a:ea typeface="Calibri"/>
              <a:cs typeface="Calibri"/>
              <a:sym typeface="Calibri"/>
            </a:endParaRPr>
          </a:p>
        </p:txBody>
      </p:sp>
      <p:cxnSp>
        <p:nvCxnSpPr>
          <p:cNvPr id="169" name="Google Shape;169;p9"/>
          <p:cNvCxnSpPr/>
          <p:nvPr/>
        </p:nvCxnSpPr>
        <p:spPr>
          <a:xfrm>
            <a:off x="6236208" y="3108960"/>
            <a:ext cx="2523744" cy="0"/>
          </a:xfrm>
          <a:prstGeom prst="straightConnector1">
            <a:avLst/>
          </a:prstGeom>
          <a:noFill/>
          <a:ln cap="flat" cmpd="sng" w="9525">
            <a:solidFill>
              <a:srgbClr val="E5E7EB"/>
            </a:solidFill>
            <a:prstDash val="solid"/>
            <a:round/>
            <a:headEnd len="sm" w="sm" type="none"/>
            <a:tailEnd len="sm" w="sm" type="none"/>
          </a:ln>
        </p:spPr>
      </p:cxnSp>
      <p:sp>
        <p:nvSpPr>
          <p:cNvPr id="170" name="Google Shape;170;p9"/>
          <p:cNvSpPr/>
          <p:nvPr/>
        </p:nvSpPr>
        <p:spPr>
          <a:xfrm>
            <a:off x="6236208" y="3246120"/>
            <a:ext cx="252374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100"/>
              <a:buFont typeface="Calibri"/>
              <a:buNone/>
            </a:pPr>
            <a:r>
              <a:rPr b="1" i="0" lang="en" sz="1100" u="none" cap="none" strike="noStrike">
                <a:solidFill>
                  <a:srgbClr val="1A1A2E"/>
                </a:solidFill>
                <a:latin typeface="Calibri"/>
                <a:ea typeface="Calibri"/>
                <a:cs typeface="Calibri"/>
                <a:sym typeface="Calibri"/>
              </a:rPr>
              <a:t>Final Deliverables</a:t>
            </a:r>
            <a:endParaRPr b="0" i="0" sz="1100" u="none" cap="none" strike="noStrike">
              <a:solidFill>
                <a:schemeClr val="dk1"/>
              </a:solidFill>
              <a:latin typeface="Calibri"/>
              <a:ea typeface="Calibri"/>
              <a:cs typeface="Calibri"/>
              <a:sym typeface="Calibri"/>
            </a:endParaRPr>
          </a:p>
        </p:txBody>
      </p:sp>
      <p:sp>
        <p:nvSpPr>
          <p:cNvPr id="171" name="Google Shape;171;p9"/>
          <p:cNvSpPr/>
          <p:nvPr/>
        </p:nvSpPr>
        <p:spPr>
          <a:xfrm>
            <a:off x="6236208" y="3474720"/>
            <a:ext cx="2523744"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2D2D"/>
              </a:buClr>
              <a:buSzPts val="1000"/>
              <a:buFont typeface="Calibri"/>
              <a:buNone/>
            </a:pPr>
            <a:r>
              <a:rPr b="0" i="0" lang="en" sz="1000" u="none" cap="none" strike="noStrike">
                <a:solidFill>
                  <a:srgbClr val="2D2D2D"/>
                </a:solidFill>
                <a:latin typeface="Calibri"/>
                <a:ea typeface="Calibri"/>
                <a:cs typeface="Calibri"/>
                <a:sym typeface="Calibri"/>
              </a:rPr>
              <a:t>☐ Complete trajectory atlas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D2D2D"/>
              </a:buClr>
              <a:buSzPts val="1000"/>
              <a:buFont typeface="Calibri"/>
              <a:buNone/>
            </a:pPr>
            <a:r>
              <a:rPr b="0" i="0" lang="en" sz="1000" u="none" cap="none" strike="noStrike">
                <a:solidFill>
                  <a:srgbClr val="2D2D2D"/>
                </a:solidFill>
                <a:latin typeface="Calibri"/>
                <a:ea typeface="Calibri"/>
                <a:cs typeface="Calibri"/>
                <a:sym typeface="Calibri"/>
              </a:rPr>
              <a:t>☐ Theory ↔ empirical validation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D2D2D"/>
              </a:buClr>
              <a:buSzPts val="1000"/>
              <a:buFont typeface="Calibri"/>
              <a:buNone/>
            </a:pPr>
            <a:r>
              <a:rPr b="0" i="0" lang="en" sz="1000" u="none" cap="none" strike="noStrike">
                <a:solidFill>
                  <a:srgbClr val="2D2D2D"/>
                </a:solidFill>
                <a:latin typeface="Calibri"/>
                <a:ea typeface="Calibri"/>
                <a:cs typeface="Calibri"/>
                <a:sym typeface="Calibri"/>
              </a:rPr>
              <a:t>☐ Final report + presentation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